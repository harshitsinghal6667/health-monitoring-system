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71" r:id="rId9"/>
    <p:sldId id="262" r:id="rId10"/>
    <p:sldId id="274" r:id="rId11"/>
    <p:sldId id="272" r:id="rId12"/>
    <p:sldId id="263" r:id="rId13"/>
    <p:sldId id="275" r:id="rId14"/>
    <p:sldId id="264" r:id="rId15"/>
    <p:sldId id="277" r:id="rId16"/>
    <p:sldId id="276" r:id="rId17"/>
    <p:sldId id="279" r:id="rId18"/>
    <p:sldId id="278" r:id="rId19"/>
    <p:sldId id="280" r:id="rId20"/>
    <p:sldId id="265" r:id="rId21"/>
    <p:sldId id="267" r:id="rId22"/>
    <p:sldId id="268" r:id="rId23"/>
    <p:sldId id="269" r:id="rId2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Ref idx="minor">
          <a:srgbClr val="5E5E5E"/>
        </a:fontRef>
        <a:srgbClr val="5E5E5E"/>
      </a:tcTxStyle>
      <a:tcStyle>
        <a:tcBdr>
          <a:left>
            <a:ln w="12700" cap="flat">
              <a:solidFill>
                <a:srgbClr val="005E00"/>
              </a:solidFill>
              <a:prstDash val="solid"/>
              <a:round/>
            </a:ln>
          </a:left>
          <a:right>
            <a:ln w="12700" cap="flat">
              <a:solidFill>
                <a:srgbClr val="005E00"/>
              </a:solidFill>
              <a:prstDash val="solid"/>
              <a:round/>
            </a:ln>
          </a:right>
          <a:top>
            <a:ln w="12700" cap="flat">
              <a:solidFill>
                <a:srgbClr val="005E00"/>
              </a:solidFill>
              <a:prstDash val="solid"/>
              <a:round/>
            </a:ln>
          </a:top>
          <a:bottom>
            <a:ln w="12700" cap="flat">
              <a:solidFill>
                <a:srgbClr val="005E00"/>
              </a:solidFill>
              <a:prstDash val="solid"/>
              <a:round/>
            </a:ln>
          </a:bottom>
          <a:insideH>
            <a:ln w="12700" cap="flat">
              <a:solidFill>
                <a:srgbClr val="005E00"/>
              </a:solidFill>
              <a:prstDash val="solid"/>
              <a:round/>
            </a:ln>
          </a:insideH>
          <a:insideV>
            <a:ln w="12700" cap="flat">
              <a:solidFill>
                <a:srgbClr val="005E00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/>
      <a:tcStyle>
        <a:tcBdr/>
        <a:fill>
          <a:solidFill>
            <a:srgbClr val="E6F0FF"/>
          </a:solidFill>
        </a:fill>
      </a:tcStyle>
    </a:band2H>
    <a:firstCol>
      <a:tcTxStyle b="on" i="off">
        <a:fontRef idx="minor">
          <a:srgbClr val="005E00"/>
        </a:fontRef>
        <a:srgbClr val="005E00"/>
      </a:tcTxStyle>
      <a:tcStyle>
        <a:tcBdr>
          <a:left>
            <a:ln w="12700" cap="flat">
              <a:solidFill>
                <a:srgbClr val="005E00"/>
              </a:solidFill>
              <a:prstDash val="solid"/>
              <a:round/>
            </a:ln>
          </a:left>
          <a:right>
            <a:ln w="38100" cap="flat">
              <a:solidFill>
                <a:srgbClr val="005E00"/>
              </a:solidFill>
              <a:prstDash val="solid"/>
              <a:round/>
            </a:ln>
          </a:right>
          <a:top>
            <a:ln w="12700" cap="flat">
              <a:solidFill>
                <a:srgbClr val="005E00"/>
              </a:solidFill>
              <a:prstDash val="solid"/>
              <a:round/>
            </a:ln>
          </a:top>
          <a:bottom>
            <a:ln w="12700" cap="flat">
              <a:solidFill>
                <a:srgbClr val="005E00"/>
              </a:solidFill>
              <a:prstDash val="solid"/>
              <a:round/>
            </a:ln>
          </a:bottom>
          <a:insideH>
            <a:ln w="12700" cap="flat">
              <a:solidFill>
                <a:srgbClr val="005E00"/>
              </a:solidFill>
              <a:prstDash val="solid"/>
              <a:round/>
            </a:ln>
          </a:insideH>
          <a:insideV>
            <a:ln w="12700" cap="flat">
              <a:solidFill>
                <a:srgbClr val="005E00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5E00"/>
        </a:fontRef>
        <a:srgbClr val="005E00"/>
      </a:tcTxStyle>
      <a:tcStyle>
        <a:tcBdr>
          <a:left>
            <a:ln w="12700" cap="flat">
              <a:solidFill>
                <a:srgbClr val="005E00"/>
              </a:solidFill>
              <a:prstDash val="solid"/>
              <a:round/>
            </a:ln>
          </a:left>
          <a:right>
            <a:ln w="12700" cap="flat">
              <a:solidFill>
                <a:srgbClr val="005E00"/>
              </a:solidFill>
              <a:prstDash val="solid"/>
              <a:round/>
            </a:ln>
          </a:right>
          <a:top>
            <a:ln w="38100" cap="flat">
              <a:solidFill>
                <a:srgbClr val="005E00"/>
              </a:solidFill>
              <a:prstDash val="solid"/>
              <a:round/>
            </a:ln>
          </a:top>
          <a:bottom>
            <a:ln w="12700" cap="flat">
              <a:solidFill>
                <a:srgbClr val="005E00"/>
              </a:solidFill>
              <a:prstDash val="solid"/>
              <a:round/>
            </a:ln>
          </a:bottom>
          <a:insideH>
            <a:ln w="12700" cap="flat">
              <a:solidFill>
                <a:srgbClr val="005E00"/>
              </a:solidFill>
              <a:prstDash val="solid"/>
              <a:round/>
            </a:ln>
          </a:insideH>
          <a:insideV>
            <a:ln w="12700" cap="flat">
              <a:solidFill>
                <a:srgbClr val="005E00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005E00"/>
        </a:fontRef>
        <a:srgbClr val="005E00"/>
      </a:tcTxStyle>
      <a:tcStyle>
        <a:tcBdr>
          <a:left>
            <a:ln w="12700" cap="flat">
              <a:solidFill>
                <a:srgbClr val="005E00"/>
              </a:solidFill>
              <a:prstDash val="solid"/>
              <a:round/>
            </a:ln>
          </a:left>
          <a:right>
            <a:ln w="12700" cap="flat">
              <a:solidFill>
                <a:srgbClr val="005E00"/>
              </a:solidFill>
              <a:prstDash val="solid"/>
              <a:round/>
            </a:ln>
          </a:right>
          <a:top>
            <a:ln w="12700" cap="flat">
              <a:solidFill>
                <a:srgbClr val="005E00"/>
              </a:solidFill>
              <a:prstDash val="solid"/>
              <a:round/>
            </a:ln>
          </a:top>
          <a:bottom>
            <a:ln w="38100" cap="flat">
              <a:solidFill>
                <a:srgbClr val="005E00"/>
              </a:solidFill>
              <a:prstDash val="solid"/>
              <a:round/>
            </a:ln>
          </a:bottom>
          <a:insideH>
            <a:ln w="12700" cap="flat">
              <a:solidFill>
                <a:srgbClr val="005E00"/>
              </a:solidFill>
              <a:prstDash val="solid"/>
              <a:round/>
            </a:ln>
          </a:insideH>
          <a:insideV>
            <a:ln w="12700" cap="flat">
              <a:solidFill>
                <a:srgbClr val="005E00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799" autoAdjust="0"/>
  </p:normalViewPr>
  <p:slideViewPr>
    <p:cSldViewPr snapToGrid="0">
      <p:cViewPr varScale="1">
        <p:scale>
          <a:sx n="46" d="100"/>
          <a:sy n="46" d="100"/>
        </p:scale>
        <p:origin x="64" y="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GUN TYAGI" userId="59664e1ace7bb5e7" providerId="LiveId" clId="{A4264C53-2F77-4520-BF87-D82346AA393F}"/>
    <pc:docChg chg="modSld">
      <pc:chgData name="SHAGUN TYAGI" userId="59664e1ace7bb5e7" providerId="LiveId" clId="{A4264C53-2F77-4520-BF87-D82346AA393F}" dt="2023-12-12T04:35:10.336" v="38" actId="20577"/>
      <pc:docMkLst>
        <pc:docMk/>
      </pc:docMkLst>
      <pc:sldChg chg="modSp mod">
        <pc:chgData name="SHAGUN TYAGI" userId="59664e1ace7bb5e7" providerId="LiveId" clId="{A4264C53-2F77-4520-BF87-D82346AA393F}" dt="2023-12-12T04:34:49.924" v="36" actId="20577"/>
        <pc:sldMkLst>
          <pc:docMk/>
          <pc:sldMk cId="0" sldId="256"/>
        </pc:sldMkLst>
        <pc:spChg chg="mod">
          <ac:chgData name="SHAGUN TYAGI" userId="59664e1ace7bb5e7" providerId="LiveId" clId="{A4264C53-2F77-4520-BF87-D82346AA393F}" dt="2023-12-12T04:34:49.924" v="36" actId="20577"/>
          <ac:spMkLst>
            <pc:docMk/>
            <pc:sldMk cId="0" sldId="256"/>
            <ac:spMk id="152" creationId="{00000000-0000-0000-0000-000000000000}"/>
          </ac:spMkLst>
        </pc:spChg>
      </pc:sldChg>
      <pc:sldChg chg="modSp mod">
        <pc:chgData name="SHAGUN TYAGI" userId="59664e1ace7bb5e7" providerId="LiveId" clId="{A4264C53-2F77-4520-BF87-D82346AA393F}" dt="2023-12-12T04:35:10.336" v="38" actId="20577"/>
        <pc:sldMkLst>
          <pc:docMk/>
          <pc:sldMk cId="0" sldId="263"/>
        </pc:sldMkLst>
        <pc:spChg chg="mod">
          <ac:chgData name="SHAGUN TYAGI" userId="59664e1ace7bb5e7" providerId="LiveId" clId="{A4264C53-2F77-4520-BF87-D82346AA393F}" dt="2023-12-12T04:35:10.336" v="38" actId="20577"/>
          <ac:spMkLst>
            <pc:docMk/>
            <pc:sldMk cId="0" sldId="263"/>
            <ac:spMk id="17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2200">
        <a:latin typeface="Lucida Grande"/>
        <a:ea typeface="Lucida Grande"/>
        <a:cs typeface="Lucida Grande"/>
        <a:sym typeface="Lucida Grande"/>
      </a:defRPr>
    </a:lvl1pPr>
    <a:lvl2pPr indent="457200" defTabSz="457200" latinLnBrk="0">
      <a:defRPr sz="2200">
        <a:latin typeface="Lucida Grande"/>
        <a:ea typeface="Lucida Grande"/>
        <a:cs typeface="Lucida Grande"/>
        <a:sym typeface="Lucida Grande"/>
      </a:defRPr>
    </a:lvl2pPr>
    <a:lvl3pPr indent="914400" defTabSz="457200" latinLnBrk="0">
      <a:defRPr sz="2200">
        <a:latin typeface="Lucida Grande"/>
        <a:ea typeface="Lucida Grande"/>
        <a:cs typeface="Lucida Grande"/>
        <a:sym typeface="Lucida Grande"/>
      </a:defRPr>
    </a:lvl3pPr>
    <a:lvl4pPr indent="1371600" defTabSz="457200" latinLnBrk="0">
      <a:defRPr sz="2200">
        <a:latin typeface="Lucida Grande"/>
        <a:ea typeface="Lucida Grande"/>
        <a:cs typeface="Lucida Grande"/>
        <a:sym typeface="Lucida Grande"/>
      </a:defRPr>
    </a:lvl4pPr>
    <a:lvl5pPr indent="1828800" defTabSz="457200" latinLnBrk="0">
      <a:defRPr sz="2200">
        <a:latin typeface="Lucida Grande"/>
        <a:ea typeface="Lucida Grande"/>
        <a:cs typeface="Lucida Grande"/>
        <a:sym typeface="Lucida Grande"/>
      </a:defRPr>
    </a:lvl5pPr>
    <a:lvl6pPr indent="2286000" defTabSz="457200" latinLnBrk="0">
      <a:defRPr sz="2200">
        <a:latin typeface="Lucida Grande"/>
        <a:ea typeface="Lucida Grande"/>
        <a:cs typeface="Lucida Grande"/>
        <a:sym typeface="Lucida Grande"/>
      </a:defRPr>
    </a:lvl6pPr>
    <a:lvl7pPr indent="2743200" defTabSz="457200" latinLnBrk="0">
      <a:defRPr sz="2200">
        <a:latin typeface="Lucida Grande"/>
        <a:ea typeface="Lucida Grande"/>
        <a:cs typeface="Lucida Grande"/>
        <a:sym typeface="Lucida Grande"/>
      </a:defRPr>
    </a:lvl7pPr>
    <a:lvl8pPr indent="3200400" defTabSz="457200" latinLnBrk="0">
      <a:defRPr sz="2200">
        <a:latin typeface="Lucida Grande"/>
        <a:ea typeface="Lucida Grande"/>
        <a:cs typeface="Lucida Grande"/>
        <a:sym typeface="Lucida Grande"/>
      </a:defRPr>
    </a:lvl8pPr>
    <a:lvl9pPr indent="3657600" defTabSz="457200" latinLnBrk="0">
      <a:defRPr sz="2200">
        <a:latin typeface="Lucida Grande"/>
        <a:ea typeface="Lucida Grande"/>
        <a:cs typeface="Lucida Grande"/>
        <a:sym typeface="Lucida Grand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"/>
          <p:cNvSpPr txBox="1">
            <a:spLocks noGrp="1"/>
          </p:cNvSpPr>
          <p:nvPr>
            <p:ph type="body" sz="quarter" idx="21"/>
          </p:nvPr>
        </p:nvSpPr>
        <p:spPr>
          <a:xfrm>
            <a:off x="1201342" y="7223190"/>
            <a:ext cx="21971002" cy="1905002"/>
          </a:xfrm>
          <a:prstGeom prst="rect">
            <a:avLst/>
          </a:prstGeom>
        </p:spPr>
        <p:txBody>
          <a:bodyPr numCol="1" spcCol="38100" anchor="ctr">
            <a:noAutofit/>
          </a:bodyPr>
          <a:lstStyle/>
          <a:p>
            <a: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pPr>
            <a:endParaRPr/>
          </a:p>
        </p:txBody>
      </p:sp>
      <p:sp>
        <p:nvSpPr>
          <p:cNvPr id="12" name="Title Text"/>
          <p:cNvSpPr txBox="1">
            <a:spLocks noGrp="1"/>
          </p:cNvSpPr>
          <p:nvPr>
            <p:ph type="title"/>
          </p:nvPr>
        </p:nvSpPr>
        <p:spPr>
          <a:xfrm>
            <a:off x="1206496" y="2574991"/>
            <a:ext cx="21971005" cy="4648202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Title Text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01340" y="11859862"/>
            <a:ext cx="21971004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sz="3600" b="1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sz="3600" b="1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sz="3600" b="1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sz="36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"/>
          <p:cNvSpPr>
            <a:spLocks noGrp="1"/>
          </p:cNvSpPr>
          <p:nvPr>
            <p:ph type="pic" idx="21"/>
          </p:nvPr>
        </p:nvSpPr>
        <p:spPr>
          <a:xfrm>
            <a:off x="9271000" y="1270000"/>
            <a:ext cx="16764000" cy="111760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33" name="Title Text"/>
          <p:cNvSpPr txBox="1">
            <a:spLocks noGrp="1"/>
          </p:cNvSpPr>
          <p:nvPr>
            <p:ph type="title"/>
          </p:nvPr>
        </p:nvSpPr>
        <p:spPr>
          <a:xfrm>
            <a:off x="1206500" y="1270000"/>
            <a:ext cx="9779000" cy="5882274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550751" y="11815233"/>
            <a:ext cx="1270001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 numCol="1" spcCol="38100" anchor="ctr">
            <a:noAutofit/>
          </a:bodyPr>
          <a:lstStyle/>
          <a:p>
            <a:endParaRPr/>
          </a:p>
        </p:txBody>
      </p:sp>
      <p:sp>
        <p:nvSpPr>
          <p:cNvPr id="43" name="Title Text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000" cy="1433164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sz="5500" b="1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sz="5500" b="1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sz="5500" b="1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sz="55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"/>
          <p:cNvSpPr txBox="1">
            <a:spLocks noGrp="1"/>
          </p:cNvSpPr>
          <p:nvPr>
            <p:ph type="body" sz="half" idx="2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 anchor="ctr">
            <a:noAutofit/>
          </a:bodyPr>
          <a:lstStyle/>
          <a:p>
            <a:endParaRPr/>
          </a:p>
        </p:txBody>
      </p:sp>
      <p:sp>
        <p:nvSpPr>
          <p:cNvPr id="61" name="Image"/>
          <p:cNvSpPr>
            <a:spLocks noGrp="1"/>
          </p:cNvSpPr>
          <p:nvPr>
            <p:ph type="pic" idx="22"/>
          </p:nvPr>
        </p:nvSpPr>
        <p:spPr>
          <a:xfrm>
            <a:off x="9271000" y="1263847"/>
            <a:ext cx="16773843" cy="11188206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62" name="Title Text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sz="5500" b="1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sz="5500" b="1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sz="5500" b="1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sz="55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Text"/>
          <p:cNvSpPr txBox="1">
            <a:spLocks noGrp="1"/>
          </p:cNvSpPr>
          <p:nvPr>
            <p:ph type="title"/>
          </p:nvPr>
        </p:nvSpPr>
        <p:spPr>
          <a:xfrm>
            <a:off x="1206496" y="4533900"/>
            <a:ext cx="21971005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Title Text</a:t>
            </a:r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550751" y="11815233"/>
            <a:ext cx="1270001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itle Text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000" cy="143495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8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sz="5500" b="1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sz="5500" b="1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sz="5500" b="1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sz="55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 numCol="1" spcCol="38100" anchor="ctr">
            <a:noAutofit/>
          </a:bodyPr>
          <a:lstStyle/>
          <a:p>
            <a: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99"/>
            </a:pPr>
            <a:endParaRPr/>
          </a:p>
        </p:txBody>
      </p:sp>
      <p:sp>
        <p:nvSpPr>
          <p:cNvPr id="89" name="Title Text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sz="5500" b="1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sz="5500" b="1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sz="5500" b="1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sz="55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numCol="1" spcCol="38100"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"/>
          <p:cNvSpPr txBox="1">
            <a:spLocks noGrp="1"/>
          </p:cNvSpPr>
          <p:nvPr>
            <p:ph type="body" sz="quarter" idx="2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8" tIns="45718" rIns="45718" bIns="45718" numCol="1" spcCol="38100" anchor="ctr">
            <a:noAutofit/>
          </a:bodyPr>
          <a:lstStyle/>
          <a:p>
            <a: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pPr>
            <a:endParaRPr/>
          </a:p>
        </p:txBody>
      </p:sp>
      <p:sp>
        <p:nvSpPr>
          <p:cNvPr id="107" name="Body Level One…"/>
          <p:cNvSpPr txBox="1">
            <a:spLocks noGrp="1"/>
          </p:cNvSpPr>
          <p:nvPr>
            <p:ph type="body" idx="1"/>
          </p:nvPr>
        </p:nvSpPr>
        <p:spPr>
          <a:xfrm>
            <a:off x="1206500" y="1075926"/>
            <a:ext cx="21971000" cy="7241586"/>
          </a:xfrm>
          <a:prstGeom prst="rect">
            <a:avLst/>
          </a:prstGeom>
        </p:spPr>
        <p:txBody>
          <a:bodyPr numCol="1" spcCol="38100"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"/>
          <p:cNvSpPr txBox="1">
            <a:spLocks noGrp="1"/>
          </p:cNvSpPr>
          <p:nvPr>
            <p:ph type="body" sz="half" idx="21"/>
          </p:nvPr>
        </p:nvSpPr>
        <p:spPr>
          <a:xfrm>
            <a:off x="1753923" y="4939860"/>
            <a:ext cx="20876154" cy="3836281"/>
          </a:xfrm>
          <a:prstGeom prst="rect">
            <a:avLst/>
          </a:prstGeom>
        </p:spPr>
        <p:txBody>
          <a:bodyPr numCol="1" spcCol="38100" anchor="ctr">
            <a:noAutofit/>
          </a:bodyPr>
          <a:lstStyle/>
          <a:p>
            <a:pPr marL="469900" indent="-300876">
              <a:spcBef>
                <a:spcPts val="0"/>
              </a:spcBef>
              <a:buSzTx/>
              <a:buNone/>
              <a:defRPr sz="8500" spc="-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430024" y="10675453"/>
            <a:ext cx="20200054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sz="3600" b="1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sz="3600" b="1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sz="3600" b="1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sz="36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Image"/>
          <p:cNvSpPr>
            <a:spLocks noGrp="1"/>
          </p:cNvSpPr>
          <p:nvPr>
            <p:ph type="pic" sz="quarter" idx="21"/>
          </p:nvPr>
        </p:nvSpPr>
        <p:spPr>
          <a:xfrm>
            <a:off x="15417800" y="1270000"/>
            <a:ext cx="8144934" cy="54102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125" name="Image"/>
          <p:cNvSpPr>
            <a:spLocks noGrp="1"/>
          </p:cNvSpPr>
          <p:nvPr>
            <p:ph type="pic" sz="quarter" idx="22"/>
          </p:nvPr>
        </p:nvSpPr>
        <p:spPr>
          <a:xfrm>
            <a:off x="15443200" y="7086600"/>
            <a:ext cx="8138580" cy="54229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126" name="Image"/>
          <p:cNvSpPr>
            <a:spLocks noGrp="1"/>
          </p:cNvSpPr>
          <p:nvPr>
            <p:ph type="pic" idx="23"/>
          </p:nvPr>
        </p:nvSpPr>
        <p:spPr>
          <a:xfrm>
            <a:off x="-124636" y="1270000"/>
            <a:ext cx="16840170" cy="1124371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1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Image"/>
          <p:cNvSpPr>
            <a:spLocks noGrp="1"/>
          </p:cNvSpPr>
          <p:nvPr>
            <p:ph type="pic" idx="21"/>
          </p:nvPr>
        </p:nvSpPr>
        <p:spPr>
          <a:xfrm>
            <a:off x="0" y="-1282700"/>
            <a:ext cx="24384000" cy="162814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1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>
            <a:spLocks noGrp="1"/>
          </p:cNvSpPr>
          <p:nvPr>
            <p:ph type="body" idx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numCol="2" spcCol="109855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3653366" y="2743200"/>
            <a:ext cx="19507201" cy="1505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550751" y="11810999"/>
            <a:ext cx="1270001" cy="3746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  <p:transition spd="slow">
    <p:fade/>
  </p:transition>
  <p:txStyles>
    <p:titleStyle>
      <a:lvl1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Health Monitoring System:…"/>
          <p:cNvSpPr txBox="1">
            <a:spLocks noGrp="1"/>
          </p:cNvSpPr>
          <p:nvPr>
            <p:ph type="title"/>
          </p:nvPr>
        </p:nvSpPr>
        <p:spPr>
          <a:xfrm>
            <a:off x="1206497" y="1342176"/>
            <a:ext cx="21971006" cy="3172985"/>
          </a:xfrm>
          <a:prstGeom prst="rect">
            <a:avLst/>
          </a:prstGeom>
        </p:spPr>
        <p:txBody>
          <a:bodyPr/>
          <a:lstStyle/>
          <a:p>
            <a:pPr>
              <a:defRPr sz="13700" spc="-300"/>
            </a:pPr>
            <a:r>
              <a:t>Health Monitoring System:</a:t>
            </a:r>
          </a:p>
          <a:p>
            <a:pPr defTabSz="825500">
              <a:lnSpc>
                <a:spcPct val="100000"/>
              </a:lnSpc>
              <a:defRPr sz="7600" i="1" spc="0"/>
            </a:pPr>
            <a:r>
              <a:t>           Using ECG and PPG Techniques…</a:t>
            </a:r>
          </a:p>
        </p:txBody>
      </p:sp>
      <p:sp>
        <p:nvSpPr>
          <p:cNvPr id="152" name="Submitted By~                                                                                      Acknowledged By~…"/>
          <p:cNvSpPr txBox="1">
            <a:spLocks noGrp="1"/>
          </p:cNvSpPr>
          <p:nvPr>
            <p:ph type="body" idx="1"/>
          </p:nvPr>
        </p:nvSpPr>
        <p:spPr>
          <a:xfrm>
            <a:off x="1206500" y="5419945"/>
            <a:ext cx="21971000" cy="11133484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defTabSz="462280">
              <a:defRPr sz="4200"/>
            </a:pPr>
            <a:endParaRPr dirty="0"/>
          </a:p>
          <a:p>
            <a:pPr defTabSz="462280">
              <a:defRPr sz="4200"/>
            </a:pPr>
            <a:r>
              <a:rPr dirty="0"/>
              <a:t>                         </a:t>
            </a:r>
          </a:p>
          <a:p>
            <a:pPr defTabSz="462280">
              <a:defRPr sz="4200"/>
            </a:pPr>
            <a:endParaRPr dirty="0"/>
          </a:p>
          <a:p>
            <a:pPr defTabSz="462280">
              <a:defRPr sz="4200"/>
            </a:pPr>
            <a:endParaRPr dirty="0"/>
          </a:p>
          <a:p>
            <a:pPr defTabSz="462280">
              <a:defRPr sz="4200"/>
            </a:pPr>
            <a:r>
              <a:rPr dirty="0"/>
              <a:t>Submitted By~                                                                                  Acknowledged By~</a:t>
            </a:r>
          </a:p>
          <a:p>
            <a:pPr defTabSz="462280">
              <a:defRPr sz="4200"/>
            </a:pPr>
            <a:r>
              <a:rPr dirty="0"/>
              <a:t> </a:t>
            </a:r>
            <a:r>
              <a:rPr i="1" dirty="0"/>
              <a:t>Tushar Gupta (2000681550032)                                                     </a:t>
            </a:r>
            <a:r>
              <a:rPr lang="en-US" i="1" dirty="0" err="1"/>
              <a:t>Mr.AJAY</a:t>
            </a:r>
            <a:r>
              <a:rPr lang="en-US" i="1" dirty="0"/>
              <a:t> KUMAR  SAH</a:t>
            </a:r>
            <a:endParaRPr i="1" dirty="0"/>
          </a:p>
          <a:p>
            <a:pPr defTabSz="462280">
              <a:defRPr sz="4200" i="1"/>
            </a:pPr>
            <a:r>
              <a:rPr dirty="0"/>
              <a:t> Shagun Tyagi (2000681550029)</a:t>
            </a:r>
          </a:p>
          <a:p>
            <a:pPr defTabSz="462280">
              <a:defRPr sz="4200" i="1"/>
            </a:pPr>
            <a:r>
              <a:rPr dirty="0"/>
              <a:t> Kanishka Mehrotra (2000681550016)</a:t>
            </a:r>
          </a:p>
          <a:p>
            <a:pPr defTabSz="462280">
              <a:defRPr sz="4200" i="1"/>
            </a:pPr>
            <a:r>
              <a:rPr dirty="0"/>
              <a:t> Harshit Singhal (2000681550014)</a:t>
            </a:r>
          </a:p>
          <a:p>
            <a:pPr defTabSz="462280">
              <a:defRPr sz="4200"/>
            </a:pPr>
            <a:endParaRPr dirty="0"/>
          </a:p>
          <a:p>
            <a:pPr defTabSz="462280">
              <a:defRPr sz="4200"/>
            </a:pPr>
            <a:endParaRPr dirty="0"/>
          </a:p>
          <a:p>
            <a:pPr defTabSz="462280">
              <a:defRPr sz="4200"/>
            </a:pPr>
            <a:endParaRPr dirty="0"/>
          </a:p>
          <a:p>
            <a:pPr defTabSz="462280">
              <a:defRPr sz="4200"/>
            </a:pPr>
            <a:endParaRPr dirty="0"/>
          </a:p>
          <a:p>
            <a:pPr defTabSz="462280">
              <a:defRPr sz="4200"/>
            </a:pPr>
            <a:endParaRPr dirty="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Outline"/>
          <p:cNvSpPr txBox="1">
            <a:spLocks noGrp="1"/>
          </p:cNvSpPr>
          <p:nvPr>
            <p:ph type="title"/>
          </p:nvPr>
        </p:nvSpPr>
        <p:spPr>
          <a:xfrm>
            <a:off x="1206500" y="551818"/>
            <a:ext cx="21971000" cy="2484247"/>
          </a:xfrm>
          <a:prstGeom prst="rect">
            <a:avLst/>
          </a:prstGeom>
        </p:spPr>
        <p:txBody>
          <a:bodyPr/>
          <a:lstStyle>
            <a:lvl1pPr>
              <a:defRPr sz="11600" u="sng" spc="-300"/>
            </a:lvl1pPr>
          </a:lstStyle>
          <a:p>
            <a:r>
              <a:t>Outline</a:t>
            </a:r>
          </a:p>
        </p:txBody>
      </p:sp>
      <p:sp>
        <p:nvSpPr>
          <p:cNvPr id="155" name="Objective…"/>
          <p:cNvSpPr txBox="1">
            <a:spLocks noGrp="1"/>
          </p:cNvSpPr>
          <p:nvPr>
            <p:ph type="body" idx="1"/>
          </p:nvPr>
        </p:nvSpPr>
        <p:spPr>
          <a:xfrm>
            <a:off x="1206500" y="2276272"/>
            <a:ext cx="21971000" cy="11372911"/>
          </a:xfrm>
          <a:prstGeom prst="rect">
            <a:avLst/>
          </a:prstGeom>
        </p:spPr>
        <p:txBody>
          <a:bodyPr lIns="50800" tIns="50800" rIns="50800" bIns="50800">
            <a:normAutofit fontScale="70000" lnSpcReduction="20000"/>
          </a:bodyPr>
          <a:lstStyle/>
          <a:p>
            <a:pPr marL="554736" indent="-554736" defTabSz="2218887">
              <a:lnSpc>
                <a:spcPct val="90000"/>
              </a:lnSpc>
              <a:spcBef>
                <a:spcPts val="4000"/>
              </a:spcBef>
              <a:buSzPct val="123000"/>
              <a:buChar char="•"/>
              <a:defRPr sz="5005" b="0"/>
            </a:pPr>
            <a:r>
              <a:rPr dirty="0"/>
              <a:t>Objective</a:t>
            </a:r>
          </a:p>
          <a:p>
            <a:pPr marL="554736" indent="-554736" defTabSz="2218887">
              <a:lnSpc>
                <a:spcPct val="90000"/>
              </a:lnSpc>
              <a:spcBef>
                <a:spcPts val="4000"/>
              </a:spcBef>
              <a:buSzPct val="123000"/>
              <a:buChar char="•"/>
              <a:defRPr sz="5005" b="0"/>
            </a:pPr>
            <a:r>
              <a:rPr dirty="0"/>
              <a:t>IoT In Health Monitoring</a:t>
            </a:r>
          </a:p>
          <a:p>
            <a:pPr marL="554736" indent="-554736" defTabSz="2218887">
              <a:lnSpc>
                <a:spcPct val="90000"/>
              </a:lnSpc>
              <a:spcBef>
                <a:spcPts val="4000"/>
              </a:spcBef>
              <a:buSzPct val="123000"/>
              <a:buChar char="•"/>
              <a:defRPr sz="5005" b="0"/>
            </a:pPr>
            <a:r>
              <a:rPr dirty="0"/>
              <a:t>Introduction</a:t>
            </a:r>
          </a:p>
          <a:p>
            <a:pPr marL="554736" indent="-554736" defTabSz="2218887">
              <a:lnSpc>
                <a:spcPct val="90000"/>
              </a:lnSpc>
              <a:spcBef>
                <a:spcPts val="4000"/>
              </a:spcBef>
              <a:buSzPct val="123000"/>
              <a:buChar char="•"/>
              <a:defRPr sz="5005" b="0"/>
            </a:pPr>
            <a:r>
              <a:rPr dirty="0"/>
              <a:t>ECG Technique</a:t>
            </a:r>
          </a:p>
          <a:p>
            <a:pPr marL="554736" indent="-554736" defTabSz="2218887">
              <a:lnSpc>
                <a:spcPct val="90000"/>
              </a:lnSpc>
              <a:spcBef>
                <a:spcPts val="4000"/>
              </a:spcBef>
              <a:buSzPct val="123000"/>
              <a:buFont typeface="Arial" panose="020B0604020202020204" pitchFamily="34" charset="0"/>
              <a:buChar char="•"/>
              <a:defRPr sz="5005" b="0"/>
            </a:pPr>
            <a:r>
              <a:rPr dirty="0"/>
              <a:t>PPG Technique</a:t>
            </a:r>
            <a:r>
              <a:rPr lang="en-US" sz="5400" dirty="0"/>
              <a:t> </a:t>
            </a:r>
          </a:p>
          <a:p>
            <a:pPr marL="554736" indent="-554736" defTabSz="2218887">
              <a:lnSpc>
                <a:spcPct val="90000"/>
              </a:lnSpc>
              <a:spcBef>
                <a:spcPts val="4000"/>
              </a:spcBef>
              <a:buSzPct val="123000"/>
              <a:buFont typeface="Arial" panose="020B0604020202020204" pitchFamily="34" charset="0"/>
              <a:buChar char="•"/>
              <a:defRPr sz="5005" b="0"/>
            </a:pPr>
            <a:r>
              <a:rPr lang="en-US" sz="5400" dirty="0"/>
              <a:t>ECG MODEL</a:t>
            </a:r>
          </a:p>
          <a:p>
            <a:pPr marL="554736" indent="-554736" defTabSz="2218887">
              <a:lnSpc>
                <a:spcPct val="90000"/>
              </a:lnSpc>
              <a:spcBef>
                <a:spcPts val="4000"/>
              </a:spcBef>
              <a:buSzPct val="123000"/>
              <a:buFont typeface="Arial" panose="020B0604020202020204" pitchFamily="34" charset="0"/>
              <a:buChar char="•"/>
              <a:defRPr sz="5005" b="0"/>
            </a:pPr>
            <a:r>
              <a:rPr lang="en-US" sz="5400" dirty="0"/>
              <a:t>PPG MODEL</a:t>
            </a:r>
          </a:p>
          <a:p>
            <a:pPr marL="554736" indent="-554736" defTabSz="2218887">
              <a:lnSpc>
                <a:spcPct val="90000"/>
              </a:lnSpc>
              <a:spcBef>
                <a:spcPts val="4000"/>
              </a:spcBef>
              <a:buSzPct val="123000"/>
              <a:buFont typeface="Arial" panose="020B0604020202020204" pitchFamily="34" charset="0"/>
              <a:buChar char="•"/>
              <a:defRPr sz="5005" b="0"/>
            </a:pPr>
            <a:r>
              <a:rPr lang="en-US" sz="5400" dirty="0"/>
              <a:t>Components And Technology Used</a:t>
            </a:r>
          </a:p>
          <a:p>
            <a:pPr marL="554736" indent="-554736" defTabSz="2218887">
              <a:lnSpc>
                <a:spcPct val="90000"/>
              </a:lnSpc>
              <a:spcBef>
                <a:spcPts val="4000"/>
              </a:spcBef>
              <a:buSzPct val="123000"/>
              <a:buFont typeface="Arial" panose="020B0604020202020204" pitchFamily="34" charset="0"/>
              <a:buChar char="•"/>
              <a:defRPr sz="5005" b="0"/>
            </a:pPr>
            <a:r>
              <a:rPr lang="en-US" sz="5400" dirty="0"/>
              <a:t>SNAPSHOTS</a:t>
            </a:r>
          </a:p>
          <a:p>
            <a:pPr marL="554736" indent="-554736" defTabSz="2218887">
              <a:lnSpc>
                <a:spcPct val="90000"/>
              </a:lnSpc>
              <a:spcBef>
                <a:spcPts val="4000"/>
              </a:spcBef>
              <a:buSzPct val="123000"/>
              <a:buFont typeface="Arial" panose="020B0604020202020204" pitchFamily="34" charset="0"/>
              <a:buChar char="•"/>
              <a:defRPr sz="5005" b="0"/>
            </a:pPr>
            <a:r>
              <a:rPr lang="en-US" sz="5400" dirty="0"/>
              <a:t>Uses Of Health Monitoring</a:t>
            </a:r>
          </a:p>
          <a:p>
            <a:pPr marL="554736" indent="-554736" defTabSz="2218887">
              <a:lnSpc>
                <a:spcPct val="90000"/>
              </a:lnSpc>
              <a:spcBef>
                <a:spcPts val="4000"/>
              </a:spcBef>
              <a:buSzPct val="123000"/>
              <a:buFont typeface="Arial" panose="020B0604020202020204" pitchFamily="34" charset="0"/>
              <a:buChar char="•"/>
              <a:defRPr sz="5005" b="0"/>
            </a:pPr>
            <a:r>
              <a:rPr lang="en-US" sz="5400" dirty="0"/>
              <a:t>Target Audience</a:t>
            </a:r>
          </a:p>
          <a:p>
            <a:pPr marL="554736" indent="-554736" defTabSz="2218887">
              <a:lnSpc>
                <a:spcPct val="90000"/>
              </a:lnSpc>
              <a:spcBef>
                <a:spcPts val="4000"/>
              </a:spcBef>
              <a:buSzPct val="123000"/>
              <a:buFont typeface="Arial" panose="020B0604020202020204" pitchFamily="34" charset="0"/>
              <a:buChar char="•"/>
              <a:defRPr sz="5005" b="0"/>
            </a:pPr>
            <a:r>
              <a:rPr lang="en-US" sz="5400" dirty="0"/>
              <a:t>Future Updates</a:t>
            </a:r>
            <a:endParaRPr dirty="0"/>
          </a:p>
          <a:p>
            <a:pPr marL="554736" indent="-554736" defTabSz="2218887">
              <a:lnSpc>
                <a:spcPct val="90000"/>
              </a:lnSpc>
              <a:spcBef>
                <a:spcPts val="4000"/>
              </a:spcBef>
              <a:buSzPct val="123000"/>
              <a:buChar char="•"/>
              <a:defRPr sz="5005" b="0"/>
            </a:pPr>
            <a:r>
              <a:rPr dirty="0"/>
              <a:t>Target &amp; Future Updates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Objective"/>
          <p:cNvSpPr txBox="1">
            <a:spLocks noGrp="1"/>
          </p:cNvSpPr>
          <p:nvPr>
            <p:ph type="title"/>
          </p:nvPr>
        </p:nvSpPr>
        <p:spPr>
          <a:xfrm>
            <a:off x="1206497" y="-1548252"/>
            <a:ext cx="21971006" cy="4648203"/>
          </a:xfrm>
          <a:prstGeom prst="rect">
            <a:avLst/>
          </a:prstGeom>
        </p:spPr>
        <p:txBody>
          <a:bodyPr/>
          <a:lstStyle>
            <a:lvl1pPr>
              <a:defRPr u="sng" spc="-300"/>
            </a:lvl1pPr>
          </a:lstStyle>
          <a:p>
            <a:r>
              <a:t>Objective</a:t>
            </a:r>
          </a:p>
        </p:txBody>
      </p:sp>
      <p:sp>
        <p:nvSpPr>
          <p:cNvPr id="158" name="To provide a continuous and non-invasive method for…"/>
          <p:cNvSpPr txBox="1">
            <a:spLocks noGrp="1"/>
          </p:cNvSpPr>
          <p:nvPr>
            <p:ph type="body" sz="half" idx="1"/>
          </p:nvPr>
        </p:nvSpPr>
        <p:spPr>
          <a:xfrm>
            <a:off x="614080" y="4274494"/>
            <a:ext cx="21971002" cy="5972704"/>
          </a:xfrm>
          <a:prstGeom prst="rect">
            <a:avLst/>
          </a:prstGeom>
        </p:spPr>
        <p:txBody>
          <a:bodyPr lIns="50800" tIns="50800" rIns="50800" bIns="50800"/>
          <a:lstStyle/>
          <a:p>
            <a:pPr>
              <a:buSzPct val="123000"/>
              <a:buChar char="•"/>
              <a:defRPr sz="5500"/>
            </a:pPr>
            <a:r>
              <a:t> To provide a continuous and non-invasive method for                         </a:t>
            </a:r>
          </a:p>
          <a:p>
            <a:pPr>
              <a:defRPr sz="5500"/>
            </a:pPr>
            <a:r>
              <a:t>  monitoring the cardiovascular health of an individual.</a:t>
            </a:r>
          </a:p>
          <a:p>
            <a:pPr>
              <a:defRPr sz="5500"/>
            </a:pPr>
            <a:endParaRPr/>
          </a:p>
          <a:p>
            <a:pPr>
              <a:buSzPct val="123000"/>
              <a:buChar char="•"/>
              <a:defRPr sz="5500"/>
            </a:pPr>
            <a:r>
              <a:t> Designing a low cost health monitoring kit that can measure </a:t>
            </a:r>
          </a:p>
          <a:p>
            <a:pPr>
              <a:defRPr sz="5500"/>
            </a:pPr>
            <a:r>
              <a:t>  vital body signs like heart rate and oxygen level.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IoT In Health Monitoring"/>
          <p:cNvSpPr txBox="1">
            <a:spLocks noGrp="1"/>
          </p:cNvSpPr>
          <p:nvPr>
            <p:ph type="title"/>
          </p:nvPr>
        </p:nvSpPr>
        <p:spPr>
          <a:xfrm>
            <a:off x="1206497" y="-1619343"/>
            <a:ext cx="21971006" cy="4648203"/>
          </a:xfrm>
          <a:prstGeom prst="rect">
            <a:avLst/>
          </a:prstGeom>
        </p:spPr>
        <p:txBody>
          <a:bodyPr/>
          <a:lstStyle>
            <a:lvl1pPr>
              <a:defRPr u="sng" spc="-300"/>
            </a:lvl1pPr>
          </a:lstStyle>
          <a:p>
            <a:r>
              <a:t>IoT In Health Monitoring</a:t>
            </a:r>
          </a:p>
        </p:txBody>
      </p:sp>
      <p:sp>
        <p:nvSpPr>
          <p:cNvPr id="161" name="Emergency Response: Can be used to detect emergencies such as falls or…"/>
          <p:cNvSpPr txBox="1">
            <a:spLocks noGrp="1"/>
          </p:cNvSpPr>
          <p:nvPr>
            <p:ph type="body" idx="1"/>
          </p:nvPr>
        </p:nvSpPr>
        <p:spPr>
          <a:xfrm>
            <a:off x="1201342" y="3474746"/>
            <a:ext cx="21971002" cy="9667183"/>
          </a:xfrm>
          <a:prstGeom prst="rect">
            <a:avLst/>
          </a:prstGeom>
        </p:spPr>
        <p:txBody>
          <a:bodyPr lIns="50800" tIns="50800" rIns="50800" bIns="50800"/>
          <a:lstStyle/>
          <a:p>
            <a:pPr defTabSz="676909">
              <a:buSzPct val="123000"/>
              <a:buChar char="•"/>
              <a:defRPr sz="4500"/>
            </a:pPr>
            <a:r>
              <a:t> </a:t>
            </a:r>
            <a:r>
              <a:rPr u="sng"/>
              <a:t>Emergency Response</a:t>
            </a:r>
            <a:r>
              <a:t>: Can be used to detect emergencies such as falls or </a:t>
            </a:r>
          </a:p>
          <a:p>
            <a:pPr defTabSz="676909">
              <a:defRPr sz="4500"/>
            </a:pPr>
            <a:r>
              <a:t>  Seizures.</a:t>
            </a:r>
          </a:p>
          <a:p>
            <a:pPr defTabSz="676909">
              <a:defRPr sz="4500"/>
            </a:pPr>
            <a:endParaRPr/>
          </a:p>
          <a:p>
            <a:pPr defTabSz="676909">
              <a:buSzPct val="123000"/>
              <a:buChar char="•"/>
              <a:defRPr sz="4500"/>
            </a:pPr>
            <a:r>
              <a:t> </a:t>
            </a:r>
            <a:r>
              <a:rPr u="sng"/>
              <a:t>Personalised Tracking</a:t>
            </a:r>
            <a:r>
              <a:t>: Fitness trackers and smartwatches can track an</a:t>
            </a:r>
          </a:p>
          <a:p>
            <a:pPr defTabSz="676909">
              <a:defRPr sz="4500"/>
            </a:pPr>
            <a:r>
              <a:t>  individual's daily activity.</a:t>
            </a:r>
          </a:p>
          <a:p>
            <a:pPr defTabSz="676909">
              <a:defRPr sz="4500"/>
            </a:pPr>
            <a:endParaRPr/>
          </a:p>
          <a:p>
            <a:pPr defTabSz="676909">
              <a:buSzPct val="123000"/>
              <a:buChar char="•"/>
              <a:defRPr sz="4500"/>
            </a:pPr>
            <a:r>
              <a:t> </a:t>
            </a:r>
            <a:r>
              <a:rPr u="sng"/>
              <a:t>Medication Adherence</a:t>
            </a:r>
            <a:r>
              <a:t>: Can be used to monitor a patient's medication</a:t>
            </a:r>
          </a:p>
          <a:p>
            <a:pPr defTabSz="676909">
              <a:defRPr sz="4500"/>
            </a:pPr>
            <a:r>
              <a:t>  adherence.</a:t>
            </a:r>
          </a:p>
          <a:p>
            <a:pPr defTabSz="676909">
              <a:defRPr sz="4500"/>
            </a:pPr>
            <a:endParaRPr/>
          </a:p>
          <a:p>
            <a:pPr defTabSz="676909">
              <a:buSzPct val="123000"/>
              <a:buChar char="•"/>
              <a:defRPr sz="4500"/>
            </a:pPr>
            <a:r>
              <a:t> </a:t>
            </a:r>
            <a:r>
              <a:rPr u="sng"/>
              <a:t>Vital Sign Monitoring</a:t>
            </a:r>
            <a:r>
              <a:t>: Can monitor vital signs, such as heart rate, blood   </a:t>
            </a:r>
          </a:p>
          <a:p>
            <a:pPr defTabSz="676909">
              <a:defRPr sz="4500"/>
            </a:pPr>
            <a:r>
              <a:t>  pressure, oxygen levels in real-time.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Introduction"/>
          <p:cNvSpPr txBox="1">
            <a:spLocks noGrp="1"/>
          </p:cNvSpPr>
          <p:nvPr>
            <p:ph type="title"/>
          </p:nvPr>
        </p:nvSpPr>
        <p:spPr>
          <a:xfrm>
            <a:off x="1206497" y="-2045885"/>
            <a:ext cx="21971006" cy="4648203"/>
          </a:xfrm>
          <a:prstGeom prst="rect">
            <a:avLst/>
          </a:prstGeom>
        </p:spPr>
        <p:txBody>
          <a:bodyPr/>
          <a:lstStyle>
            <a:lvl1pPr>
              <a:defRPr u="sng" spc="-300"/>
            </a:lvl1pPr>
          </a:lstStyle>
          <a:p>
            <a:r>
              <a:t>Introduction</a:t>
            </a:r>
          </a:p>
        </p:txBody>
      </p:sp>
      <p:sp>
        <p:nvSpPr>
          <p:cNvPr id="164" name="Continuous health monitoring is essential for people with chronic diseases as it…"/>
          <p:cNvSpPr txBox="1">
            <a:spLocks noGrp="1"/>
          </p:cNvSpPr>
          <p:nvPr>
            <p:ph type="body" idx="1"/>
          </p:nvPr>
        </p:nvSpPr>
        <p:spPr>
          <a:xfrm>
            <a:off x="1272433" y="3917729"/>
            <a:ext cx="22765677" cy="9553326"/>
          </a:xfrm>
          <a:prstGeom prst="rect">
            <a:avLst/>
          </a:prstGeom>
        </p:spPr>
        <p:txBody>
          <a:bodyPr lIns="50800" tIns="50800" rIns="50800" bIns="50800"/>
          <a:lstStyle/>
          <a:p>
            <a:pPr defTabSz="2438337">
              <a:lnSpc>
                <a:spcPct val="80000"/>
              </a:lnSpc>
              <a:buSzPct val="123000"/>
              <a:buChar char="•"/>
              <a:defRPr sz="4600" spc="-100"/>
            </a:pPr>
            <a:r>
              <a:t> Continuous health monitoring is essential for people with chronic diseases as it </a:t>
            </a:r>
            <a:endParaRPr spc="-91"/>
          </a:p>
          <a:p>
            <a:pPr defTabSz="2438337">
              <a:lnSpc>
                <a:spcPct val="80000"/>
              </a:lnSpc>
              <a:defRPr sz="4600" spc="-100"/>
            </a:pPr>
            <a:r>
              <a:t>   allows for early detection of changes.</a:t>
            </a:r>
            <a:endParaRPr spc="-91"/>
          </a:p>
          <a:p>
            <a:pPr defTabSz="2438337">
              <a:lnSpc>
                <a:spcPct val="80000"/>
              </a:lnSpc>
              <a:defRPr sz="4600" spc="-100"/>
            </a:pPr>
            <a:endParaRPr spc="-91"/>
          </a:p>
          <a:p>
            <a:pPr defTabSz="2438337">
              <a:lnSpc>
                <a:spcPct val="80000"/>
              </a:lnSpc>
              <a:buSzPct val="123000"/>
              <a:buChar char="•"/>
              <a:defRPr sz="4600" spc="-100"/>
            </a:pPr>
            <a:r>
              <a:rPr spc="-91"/>
              <a:t> </a:t>
            </a:r>
            <a:r>
              <a:t>Electrocardiogram (ECG) and Photoplethysmography (PPG) are two important </a:t>
            </a:r>
            <a:endParaRPr spc="-91"/>
          </a:p>
          <a:p>
            <a:pPr defTabSz="2438337">
              <a:lnSpc>
                <a:spcPct val="80000"/>
              </a:lnSpc>
              <a:defRPr sz="4600" spc="-100"/>
            </a:pPr>
            <a:r>
              <a:t>   techniques used in health monitoring.</a:t>
            </a:r>
            <a:endParaRPr spc="-91"/>
          </a:p>
          <a:p>
            <a:pPr defTabSz="2438337">
              <a:lnSpc>
                <a:spcPct val="80000"/>
              </a:lnSpc>
              <a:defRPr sz="4600" spc="-91"/>
            </a:pPr>
            <a:endParaRPr spc="-91"/>
          </a:p>
          <a:p>
            <a:pPr defTabSz="2438337">
              <a:lnSpc>
                <a:spcPct val="80000"/>
              </a:lnSpc>
              <a:buSzPct val="123000"/>
              <a:buChar char="•"/>
              <a:defRPr sz="4600" spc="-100"/>
            </a:pPr>
            <a:r>
              <a:rPr spc="-91"/>
              <a:t> D</a:t>
            </a:r>
            <a:r>
              <a:t>etects abnormal heart  rhythms, which can be a sign of a heart problem.</a:t>
            </a:r>
          </a:p>
          <a:p>
            <a:pPr defTabSz="2438337">
              <a:lnSpc>
                <a:spcPct val="80000"/>
              </a:lnSpc>
              <a:defRPr sz="4600" spc="-100"/>
            </a:pPr>
            <a:endParaRPr/>
          </a:p>
          <a:p>
            <a:pPr defTabSz="2438337">
              <a:lnSpc>
                <a:spcPct val="80000"/>
              </a:lnSpc>
              <a:buSzPct val="123000"/>
              <a:buChar char="•"/>
              <a:defRPr sz="4600" spc="-100"/>
            </a:pPr>
            <a:r>
              <a:t> PPG is a non-invasive optical technique used to measure blood flow in the body.</a:t>
            </a:r>
          </a:p>
          <a:p>
            <a:pPr defTabSz="2438337">
              <a:lnSpc>
                <a:spcPct val="80000"/>
              </a:lnSpc>
              <a:buSzPct val="123000"/>
              <a:buChar char="•"/>
              <a:defRPr sz="4600" spc="-100"/>
            </a:pPr>
            <a:endParaRPr/>
          </a:p>
          <a:p>
            <a:pPr defTabSz="2438337">
              <a:lnSpc>
                <a:spcPct val="80000"/>
              </a:lnSpc>
              <a:buSzPct val="123000"/>
              <a:buChar char="•"/>
              <a:defRPr sz="4600" spc="-100"/>
            </a:pPr>
            <a:r>
              <a:t> ECG is a diagnostic tool that records the electrical activity of the heart.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ECG Technique"/>
          <p:cNvSpPr txBox="1">
            <a:spLocks noGrp="1"/>
          </p:cNvSpPr>
          <p:nvPr>
            <p:ph type="title"/>
          </p:nvPr>
        </p:nvSpPr>
        <p:spPr>
          <a:xfrm>
            <a:off x="1206500" y="-3398269"/>
            <a:ext cx="9779000" cy="5882274"/>
          </a:xfrm>
          <a:prstGeom prst="rect">
            <a:avLst/>
          </a:prstGeom>
        </p:spPr>
        <p:txBody>
          <a:bodyPr/>
          <a:lstStyle>
            <a:lvl1pPr>
              <a:defRPr u="sng" spc="-200"/>
            </a:lvl1pPr>
          </a:lstStyle>
          <a:p>
            <a:r>
              <a:t>ECG Technique</a:t>
            </a:r>
          </a:p>
        </p:txBody>
      </p:sp>
      <p:sp>
        <p:nvSpPr>
          <p:cNvPr id="168" name="ECG stands for Electrocardiogram.…"/>
          <p:cNvSpPr txBox="1">
            <a:spLocks noGrp="1"/>
          </p:cNvSpPr>
          <p:nvPr>
            <p:ph type="body" sz="half" idx="1"/>
          </p:nvPr>
        </p:nvSpPr>
        <p:spPr>
          <a:xfrm>
            <a:off x="1206500" y="3721216"/>
            <a:ext cx="10644397" cy="10163199"/>
          </a:xfrm>
          <a:prstGeom prst="rect">
            <a:avLst/>
          </a:prstGeom>
        </p:spPr>
        <p:txBody>
          <a:bodyPr/>
          <a:lstStyle/>
          <a:p>
            <a:pPr defTabSz="2438337">
              <a:lnSpc>
                <a:spcPct val="80000"/>
              </a:lnSpc>
              <a:buSzPct val="123000"/>
              <a:buChar char="•"/>
              <a:defRPr sz="3600" spc="-100"/>
            </a:pPr>
            <a:r>
              <a:t> ECG stands for Electrocardiogram.</a:t>
            </a:r>
          </a:p>
          <a:p>
            <a:pPr defTabSz="2438337">
              <a:lnSpc>
                <a:spcPct val="80000"/>
              </a:lnSpc>
              <a:buSzPct val="123000"/>
              <a:buChar char="•"/>
              <a:defRPr sz="3600" spc="-100"/>
            </a:pPr>
            <a:endParaRPr/>
          </a:p>
          <a:p>
            <a:pPr defTabSz="2438337">
              <a:lnSpc>
                <a:spcPct val="80000"/>
              </a:lnSpc>
              <a:buSzPct val="123000"/>
              <a:buChar char="•"/>
              <a:defRPr sz="3600" spc="-100"/>
            </a:pPr>
            <a:r>
              <a:t> Measures electrical activity of the heart.</a:t>
            </a:r>
          </a:p>
          <a:p>
            <a:pPr defTabSz="2438337">
              <a:lnSpc>
                <a:spcPct val="80000"/>
              </a:lnSpc>
              <a:buSzPct val="123000"/>
              <a:buChar char="•"/>
              <a:defRPr sz="3600" spc="-100"/>
            </a:pPr>
            <a:endParaRPr/>
          </a:p>
          <a:p>
            <a:pPr defTabSz="2438337">
              <a:lnSpc>
                <a:spcPct val="80000"/>
              </a:lnSpc>
              <a:buSzPct val="123000"/>
              <a:buChar char="•"/>
              <a:defRPr sz="3600" spc="-100"/>
            </a:pPr>
            <a:r>
              <a:t> Small metal electrodes are attached to the skin    </a:t>
            </a:r>
          </a:p>
          <a:p>
            <a:pPr defTabSz="2438337">
              <a:lnSpc>
                <a:spcPct val="80000"/>
              </a:lnSpc>
              <a:defRPr sz="3600" spc="-100"/>
            </a:pPr>
            <a:r>
              <a:t>   on the chest, arms, and legs.</a:t>
            </a:r>
          </a:p>
          <a:p>
            <a:pPr defTabSz="2438337">
              <a:lnSpc>
                <a:spcPct val="80000"/>
              </a:lnSpc>
              <a:defRPr sz="3600" spc="-100"/>
            </a:pPr>
            <a:endParaRPr/>
          </a:p>
          <a:p>
            <a:pPr defTabSz="2438337">
              <a:lnSpc>
                <a:spcPct val="80000"/>
              </a:lnSpc>
              <a:buSzPct val="123000"/>
              <a:buChar char="•"/>
              <a:defRPr sz="3600" spc="-100"/>
            </a:pPr>
            <a:r>
              <a:t> Electrodes detect the electrical signals produced</a:t>
            </a:r>
          </a:p>
          <a:p>
            <a:pPr defTabSz="2438337">
              <a:lnSpc>
                <a:spcPct val="80000"/>
              </a:lnSpc>
              <a:defRPr sz="3600" spc="-100"/>
            </a:pPr>
            <a:r>
              <a:t>   by the heart</a:t>
            </a:r>
          </a:p>
          <a:p>
            <a:pPr defTabSz="2438337">
              <a:lnSpc>
                <a:spcPct val="80000"/>
              </a:lnSpc>
              <a:defRPr sz="3600" spc="-100"/>
            </a:pPr>
            <a:endParaRPr/>
          </a:p>
          <a:p>
            <a:pPr defTabSz="2438337">
              <a:lnSpc>
                <a:spcPct val="80000"/>
              </a:lnSpc>
              <a:buSzPct val="123000"/>
              <a:buChar char="•"/>
              <a:defRPr sz="3600" spc="-100"/>
            </a:pPr>
            <a:r>
              <a:t> Transmit them to a machine that records the    </a:t>
            </a:r>
            <a:endParaRPr spc="-72"/>
          </a:p>
          <a:p>
            <a:pPr defTabSz="2438337">
              <a:lnSpc>
                <a:spcPct val="80000"/>
              </a:lnSpc>
              <a:defRPr sz="3600" spc="-100"/>
            </a:pPr>
            <a:r>
              <a:rPr spc="-72"/>
              <a:t>   signals as a graph.</a:t>
            </a:r>
          </a:p>
          <a:p>
            <a:pPr defTabSz="2438337">
              <a:lnSpc>
                <a:spcPct val="80000"/>
              </a:lnSpc>
              <a:defRPr sz="3600" spc="-100"/>
            </a:pPr>
            <a:endParaRPr spc="-72"/>
          </a:p>
          <a:p>
            <a:pPr defTabSz="2438337">
              <a:lnSpc>
                <a:spcPct val="80000"/>
              </a:lnSpc>
              <a:buSzPct val="123000"/>
              <a:buChar char="•"/>
              <a:defRPr sz="3600" spc="-100"/>
            </a:pPr>
            <a:r>
              <a:rPr spc="-72"/>
              <a:t> G</a:t>
            </a:r>
            <a:r>
              <a:t>raph determines the health of the heart and </a:t>
            </a:r>
            <a:endParaRPr spc="-72"/>
          </a:p>
          <a:p>
            <a:pPr defTabSz="2438337">
              <a:lnSpc>
                <a:spcPct val="80000"/>
              </a:lnSpc>
              <a:defRPr sz="3600" spc="-100"/>
            </a:pPr>
            <a:r>
              <a:t>   diagnose any problems that may be present.</a:t>
            </a:r>
            <a:endParaRPr spc="-72"/>
          </a:p>
          <a:p>
            <a:pPr defTabSz="2438337">
              <a:lnSpc>
                <a:spcPct val="80000"/>
              </a:lnSpc>
              <a:defRPr sz="3600" spc="-100"/>
            </a:pPr>
            <a:endParaRPr spc="-72"/>
          </a:p>
          <a:p>
            <a:pPr defTabSz="2438337">
              <a:lnSpc>
                <a:spcPct val="80000"/>
              </a:lnSpc>
              <a:defRPr sz="3600" spc="-100"/>
            </a:pPr>
            <a: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654378-4BA1-1A4C-CF75-4A0FB4F967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0897" y="1162455"/>
            <a:ext cx="11430000" cy="114300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ECG Technique"/>
          <p:cNvSpPr txBox="1">
            <a:spLocks noGrp="1"/>
          </p:cNvSpPr>
          <p:nvPr>
            <p:ph type="title"/>
          </p:nvPr>
        </p:nvSpPr>
        <p:spPr>
          <a:xfrm>
            <a:off x="1206500" y="-3398269"/>
            <a:ext cx="15446664" cy="5850524"/>
          </a:xfrm>
          <a:prstGeom prst="rect">
            <a:avLst/>
          </a:prstGeom>
        </p:spPr>
        <p:txBody>
          <a:bodyPr/>
          <a:lstStyle>
            <a:lvl1pPr>
              <a:defRPr u="sng" spc="-200"/>
            </a:lvl1pPr>
          </a:lstStyle>
          <a:p>
            <a:r>
              <a:rPr dirty="0"/>
              <a:t>ECG </a:t>
            </a:r>
            <a:r>
              <a:rPr lang="en-US" dirty="0"/>
              <a:t>BLOCK DIAGRAM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7E3800-FA94-6756-FDC1-32542A3A57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2043" y="2452256"/>
            <a:ext cx="13754910" cy="1126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769942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ECG Technique"/>
          <p:cNvSpPr txBox="1">
            <a:spLocks noGrp="1"/>
          </p:cNvSpPr>
          <p:nvPr>
            <p:ph type="title"/>
          </p:nvPr>
        </p:nvSpPr>
        <p:spPr>
          <a:xfrm>
            <a:off x="1206500" y="-3398269"/>
            <a:ext cx="15446664" cy="5850524"/>
          </a:xfrm>
          <a:prstGeom prst="rect">
            <a:avLst/>
          </a:prstGeom>
        </p:spPr>
        <p:txBody>
          <a:bodyPr/>
          <a:lstStyle>
            <a:lvl1pPr>
              <a:defRPr u="sng" spc="-200"/>
            </a:lvl1pPr>
          </a:lstStyle>
          <a:p>
            <a:r>
              <a:rPr dirty="0"/>
              <a:t>ECG </a:t>
            </a:r>
            <a:r>
              <a:rPr lang="en-US" dirty="0"/>
              <a:t>MODEL</a:t>
            </a:r>
            <a:endParaRPr dirty="0"/>
          </a:p>
        </p:txBody>
      </p:sp>
      <p:pic>
        <p:nvPicPr>
          <p:cNvPr id="5" name="Picture Placeholder 5">
            <a:extLst>
              <a:ext uri="{FF2B5EF4-FFF2-40B4-BE49-F238E27FC236}">
                <a16:creationId xmlns:a16="http://schemas.microsoft.com/office/drawing/2014/main" id="{A64494F3-3617-F4FB-03BF-3BF282C990D8}"/>
              </a:ext>
            </a:extLst>
          </p:cNvPr>
          <p:cNvPicPr>
            <a:picLocks noGrp="1" noChangeAspect="1"/>
          </p:cNvPicPr>
          <p:nvPr>
            <p:ph type="pic" idx="2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9" r="2409"/>
          <a:stretch>
            <a:fillRect/>
          </a:stretch>
        </p:blipFill>
        <p:spPr>
          <a:xfrm>
            <a:off x="4245902" y="2728788"/>
            <a:ext cx="15743136" cy="10495424"/>
          </a:xfrm>
        </p:spPr>
      </p:pic>
    </p:spTree>
    <p:extLst>
      <p:ext uri="{BB962C8B-B14F-4D97-AF65-F5344CB8AC3E}">
        <p14:creationId xmlns:p14="http://schemas.microsoft.com/office/powerpoint/2010/main" val="331807378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PG Technique"/>
          <p:cNvSpPr txBox="1">
            <a:spLocks noGrp="1"/>
          </p:cNvSpPr>
          <p:nvPr>
            <p:ph type="title"/>
          </p:nvPr>
        </p:nvSpPr>
        <p:spPr>
          <a:xfrm>
            <a:off x="1206500" y="-3398269"/>
            <a:ext cx="9779000" cy="5882274"/>
          </a:xfrm>
          <a:prstGeom prst="rect">
            <a:avLst/>
          </a:prstGeom>
        </p:spPr>
        <p:txBody>
          <a:bodyPr/>
          <a:lstStyle>
            <a:lvl1pPr>
              <a:defRPr u="sng" spc="-200"/>
            </a:lvl1pPr>
          </a:lstStyle>
          <a:p>
            <a:r>
              <a:t>PPG Technique</a:t>
            </a:r>
          </a:p>
        </p:txBody>
      </p:sp>
      <p:sp>
        <p:nvSpPr>
          <p:cNvPr id="171" name="PPG stands for Photoplethysmography.…"/>
          <p:cNvSpPr txBox="1">
            <a:spLocks noGrp="1"/>
          </p:cNvSpPr>
          <p:nvPr>
            <p:ph type="body" sz="half" idx="1"/>
          </p:nvPr>
        </p:nvSpPr>
        <p:spPr>
          <a:xfrm>
            <a:off x="1206500" y="3391016"/>
            <a:ext cx="10586646" cy="11543629"/>
          </a:xfrm>
          <a:prstGeom prst="rect">
            <a:avLst/>
          </a:prstGeom>
        </p:spPr>
        <p:txBody>
          <a:bodyPr/>
          <a:lstStyle/>
          <a:p>
            <a:pPr defTabSz="2340804">
              <a:lnSpc>
                <a:spcPct val="80000"/>
              </a:lnSpc>
              <a:buSzPct val="123000"/>
              <a:buChar char="•"/>
              <a:defRPr sz="3455" spc="-95"/>
            </a:pPr>
            <a:r>
              <a:t> PPG stands for Photoplethysmography.</a:t>
            </a:r>
          </a:p>
          <a:p>
            <a:pPr defTabSz="2340804">
              <a:lnSpc>
                <a:spcPct val="80000"/>
              </a:lnSpc>
              <a:buSzPct val="123000"/>
              <a:buChar char="•"/>
              <a:defRPr sz="3455" spc="-95"/>
            </a:pPr>
            <a:endParaRPr/>
          </a:p>
          <a:p>
            <a:pPr defTabSz="2340804">
              <a:lnSpc>
                <a:spcPct val="80000"/>
              </a:lnSpc>
              <a:buSzPct val="123000"/>
              <a:buChar char="•"/>
              <a:defRPr sz="3455" spc="-95"/>
            </a:pPr>
            <a:r>
              <a:t> Measures blood flow in the body.</a:t>
            </a:r>
          </a:p>
          <a:p>
            <a:pPr defTabSz="2340804">
              <a:lnSpc>
                <a:spcPct val="80000"/>
              </a:lnSpc>
              <a:buSzPct val="123000"/>
              <a:buChar char="•"/>
              <a:defRPr sz="3455" spc="-95"/>
            </a:pPr>
            <a:endParaRPr/>
          </a:p>
          <a:p>
            <a:pPr defTabSz="2340804">
              <a:lnSpc>
                <a:spcPct val="80000"/>
              </a:lnSpc>
              <a:buSzPct val="123000"/>
              <a:buChar char="•"/>
              <a:defRPr sz="3455" spc="-95"/>
            </a:pPr>
            <a:r>
              <a:t> A light source is shone onto the skin's surface, </a:t>
            </a:r>
          </a:p>
          <a:p>
            <a:pPr defTabSz="2340804">
              <a:lnSpc>
                <a:spcPct val="80000"/>
              </a:lnSpc>
              <a:defRPr sz="3455" spc="-95"/>
            </a:pPr>
            <a:r>
              <a:t>   usually on the fingertip or wrist.</a:t>
            </a:r>
          </a:p>
          <a:p>
            <a:pPr defTabSz="2340804">
              <a:lnSpc>
                <a:spcPct val="80000"/>
              </a:lnSpc>
              <a:defRPr sz="3455" spc="-95"/>
            </a:pPr>
            <a:endParaRPr/>
          </a:p>
          <a:p>
            <a:pPr defTabSz="792479">
              <a:buSzPct val="123000"/>
              <a:buChar char="•"/>
              <a:defRPr sz="3455"/>
            </a:pPr>
            <a:r>
              <a:t> The light is absorbed by the blood vessels </a:t>
            </a:r>
          </a:p>
          <a:p>
            <a:pPr defTabSz="792479">
              <a:defRPr sz="3455"/>
            </a:pPr>
            <a:r>
              <a:t>   and then reflected back.</a:t>
            </a:r>
          </a:p>
          <a:p>
            <a:pPr defTabSz="792479">
              <a:defRPr sz="3455"/>
            </a:pPr>
            <a:endParaRPr/>
          </a:p>
          <a:p>
            <a:pPr defTabSz="792479">
              <a:buSzPct val="123000"/>
              <a:buChar char="•"/>
              <a:defRPr sz="3455"/>
            </a:pPr>
            <a:r>
              <a:t> A photodiode detects the reflected light.</a:t>
            </a:r>
          </a:p>
          <a:p>
            <a:pPr defTabSz="792479">
              <a:defRPr sz="3455"/>
            </a:pPr>
            <a:r>
              <a:t>   </a:t>
            </a:r>
          </a:p>
          <a:p>
            <a:pPr defTabSz="792479">
              <a:buSzPct val="123000"/>
              <a:buChar char="•"/>
              <a:defRPr sz="3455"/>
            </a:pPr>
            <a:r>
              <a:t> The photodetector converts the changes in the  </a:t>
            </a:r>
          </a:p>
          <a:p>
            <a:pPr defTabSz="792479">
              <a:defRPr sz="3455"/>
            </a:pPr>
            <a:r>
              <a:t>   light intensity into an electrical signal.</a:t>
            </a:r>
          </a:p>
          <a:p>
            <a:pPr defTabSz="792479">
              <a:defRPr sz="3455"/>
            </a:pPr>
            <a:endParaRPr/>
          </a:p>
          <a:p>
            <a:pPr defTabSz="792479">
              <a:buSzPct val="123000"/>
              <a:buChar char="•"/>
              <a:defRPr sz="3455"/>
            </a:pPr>
            <a:r>
              <a:t> Electrical signals are processed and analysed to </a:t>
            </a:r>
          </a:p>
          <a:p>
            <a:pPr defTabSz="792479">
              <a:defRPr sz="3455"/>
            </a:pPr>
            <a:r>
              <a:t>  determine changes in blood volume.</a:t>
            </a:r>
          </a:p>
          <a:p>
            <a:pPr defTabSz="792479">
              <a:defRPr sz="3455"/>
            </a:pPr>
            <a:endParaRPr/>
          </a:p>
          <a:p>
            <a:pPr defTabSz="2340804">
              <a:lnSpc>
                <a:spcPct val="80000"/>
              </a:lnSpc>
              <a:defRPr sz="3455" spc="-95"/>
            </a:pPr>
            <a:endParaRPr/>
          </a:p>
          <a:p>
            <a:pPr defTabSz="2340804">
              <a:lnSpc>
                <a:spcPct val="80000"/>
              </a:lnSpc>
              <a:defRPr sz="3455" spc="-95"/>
            </a:pPr>
            <a:endParaRPr/>
          </a:p>
          <a:p>
            <a:pPr defTabSz="2340804">
              <a:lnSpc>
                <a:spcPct val="80000"/>
              </a:lnSpc>
              <a:defRPr sz="3455" spc="-95"/>
            </a:pPr>
            <a:endParaRPr spc="-69"/>
          </a:p>
          <a:p>
            <a:pPr defTabSz="2340804">
              <a:lnSpc>
                <a:spcPct val="80000"/>
              </a:lnSpc>
              <a:defRPr sz="3455" spc="-95"/>
            </a:pPr>
            <a:r>
              <a:t> </a:t>
            </a:r>
          </a:p>
        </p:txBody>
      </p:sp>
      <p:pic>
        <p:nvPicPr>
          <p:cNvPr id="172" name="image3.png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3407" y="2396683"/>
            <a:ext cx="10586646" cy="80903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ECG Technique"/>
          <p:cNvSpPr txBox="1">
            <a:spLocks noGrp="1"/>
          </p:cNvSpPr>
          <p:nvPr>
            <p:ph type="title"/>
          </p:nvPr>
        </p:nvSpPr>
        <p:spPr>
          <a:xfrm>
            <a:off x="1206500" y="-3398269"/>
            <a:ext cx="15446664" cy="5850524"/>
          </a:xfrm>
          <a:prstGeom prst="rect">
            <a:avLst/>
          </a:prstGeom>
        </p:spPr>
        <p:txBody>
          <a:bodyPr/>
          <a:lstStyle>
            <a:lvl1pPr>
              <a:defRPr u="sng" spc="-200"/>
            </a:lvl1pPr>
          </a:lstStyle>
          <a:p>
            <a:r>
              <a:rPr lang="en-US" dirty="0"/>
              <a:t>PP</a:t>
            </a:r>
            <a:r>
              <a:rPr dirty="0"/>
              <a:t>G </a:t>
            </a:r>
            <a:r>
              <a:rPr lang="en-US" dirty="0"/>
              <a:t>BLOCK DIAGRAM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2363E6-524D-1CF7-398E-6643F16208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8579" y="2452255"/>
            <a:ext cx="12217940" cy="11263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350979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ECG Technique"/>
          <p:cNvSpPr txBox="1">
            <a:spLocks noGrp="1"/>
          </p:cNvSpPr>
          <p:nvPr>
            <p:ph type="title"/>
          </p:nvPr>
        </p:nvSpPr>
        <p:spPr>
          <a:xfrm>
            <a:off x="1206500" y="-3398269"/>
            <a:ext cx="15446664" cy="5850524"/>
          </a:xfrm>
          <a:prstGeom prst="rect">
            <a:avLst/>
          </a:prstGeom>
        </p:spPr>
        <p:txBody>
          <a:bodyPr/>
          <a:lstStyle>
            <a:lvl1pPr>
              <a:defRPr u="sng" spc="-200"/>
            </a:lvl1pPr>
          </a:lstStyle>
          <a:p>
            <a:r>
              <a:rPr lang="en-US" dirty="0"/>
              <a:t>PPG MODEL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476899-167C-A613-66DE-47B2E19342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408" y="2957209"/>
            <a:ext cx="20603183" cy="9980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169219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omponents Used:"/>
          <p:cNvSpPr txBox="1">
            <a:spLocks noGrp="1"/>
          </p:cNvSpPr>
          <p:nvPr>
            <p:ph type="title"/>
          </p:nvPr>
        </p:nvSpPr>
        <p:spPr>
          <a:xfrm>
            <a:off x="1206497" y="-1666736"/>
            <a:ext cx="21971006" cy="4648203"/>
          </a:xfrm>
          <a:prstGeom prst="rect">
            <a:avLst/>
          </a:prstGeom>
        </p:spPr>
        <p:txBody>
          <a:bodyPr/>
          <a:lstStyle>
            <a:lvl1pPr>
              <a:defRPr u="sng" spc="-300"/>
            </a:lvl1pPr>
          </a:lstStyle>
          <a:p>
            <a:r>
              <a:t>Components Used:</a:t>
            </a:r>
          </a:p>
        </p:txBody>
      </p:sp>
      <p:sp>
        <p:nvSpPr>
          <p:cNvPr id="175" name="Arduino Nano…"/>
          <p:cNvSpPr txBox="1">
            <a:spLocks noGrp="1"/>
          </p:cNvSpPr>
          <p:nvPr>
            <p:ph type="body" idx="1"/>
          </p:nvPr>
        </p:nvSpPr>
        <p:spPr>
          <a:xfrm>
            <a:off x="1206500" y="4329033"/>
            <a:ext cx="18934941" cy="7901421"/>
          </a:xfrm>
          <a:prstGeom prst="rect">
            <a:avLst/>
          </a:prstGeom>
        </p:spPr>
        <p:txBody>
          <a:bodyPr lIns="50800" tIns="50800" rIns="50800" bIns="50800"/>
          <a:lstStyle/>
          <a:p>
            <a:pPr defTabSz="1999437">
              <a:lnSpc>
                <a:spcPct val="90000"/>
              </a:lnSpc>
              <a:spcBef>
                <a:spcPts val="3600"/>
              </a:spcBef>
              <a:buSzPct val="123000"/>
              <a:buChar char="•"/>
              <a:defRPr sz="3936" b="0"/>
            </a:pPr>
            <a:r>
              <a:rPr lang="en-US"/>
              <a:t> OLED</a:t>
            </a:r>
            <a:r>
              <a:rPr lang="en-US" sz="4510"/>
              <a:t> </a:t>
            </a:r>
            <a:r>
              <a:rPr dirty="0"/>
              <a:t>Display</a:t>
            </a:r>
            <a:endParaRPr sz="4510" dirty="0"/>
          </a:p>
          <a:p>
            <a:pPr defTabSz="1999437">
              <a:lnSpc>
                <a:spcPct val="90000"/>
              </a:lnSpc>
              <a:spcBef>
                <a:spcPts val="3600"/>
              </a:spcBef>
              <a:buSzPct val="123000"/>
              <a:buChar char="•"/>
              <a:defRPr sz="3936" b="0"/>
            </a:pPr>
            <a:r>
              <a:rPr sz="4510" dirty="0"/>
              <a:t> </a:t>
            </a:r>
            <a:r>
              <a:rPr lang="en-US" dirty="0"/>
              <a:t>MAX 30100</a:t>
            </a:r>
            <a:endParaRPr sz="4510" dirty="0"/>
          </a:p>
          <a:p>
            <a:pPr defTabSz="1999437">
              <a:lnSpc>
                <a:spcPct val="90000"/>
              </a:lnSpc>
              <a:spcBef>
                <a:spcPts val="3600"/>
              </a:spcBef>
              <a:buSzPct val="123000"/>
              <a:buChar char="•"/>
              <a:defRPr sz="3936" b="0"/>
            </a:pPr>
            <a:r>
              <a:rPr dirty="0"/>
              <a:t> Connecting Wires</a:t>
            </a:r>
            <a:endParaRPr sz="4510" dirty="0"/>
          </a:p>
          <a:p>
            <a:pPr defTabSz="1999437">
              <a:lnSpc>
                <a:spcPct val="90000"/>
              </a:lnSpc>
              <a:spcBef>
                <a:spcPts val="3600"/>
              </a:spcBef>
              <a:buSzPct val="123000"/>
              <a:buChar char="•"/>
              <a:defRPr sz="3936" b="0"/>
            </a:pPr>
            <a:r>
              <a:rPr lang="en-US" dirty="0"/>
              <a:t> </a:t>
            </a:r>
            <a:r>
              <a:rPr dirty="0"/>
              <a:t>5v Charger or Power Bank</a:t>
            </a:r>
            <a:endParaRPr sz="4510" dirty="0"/>
          </a:p>
          <a:p>
            <a:pPr defTabSz="1999437">
              <a:lnSpc>
                <a:spcPct val="90000"/>
              </a:lnSpc>
              <a:spcBef>
                <a:spcPts val="3600"/>
              </a:spcBef>
              <a:buSzPct val="123000"/>
              <a:buChar char="•"/>
              <a:defRPr sz="3936" b="0"/>
            </a:pPr>
            <a:r>
              <a:rPr dirty="0"/>
              <a:t> AD8232 ECG Sensor</a:t>
            </a:r>
            <a:endParaRPr sz="4510" dirty="0"/>
          </a:p>
          <a:p>
            <a:pPr defTabSz="1999437">
              <a:lnSpc>
                <a:spcPct val="90000"/>
              </a:lnSpc>
              <a:spcBef>
                <a:spcPts val="3600"/>
              </a:spcBef>
              <a:buSzPct val="123000"/>
              <a:buChar char="•"/>
              <a:defRPr sz="3936" b="0"/>
            </a:pPr>
            <a:r>
              <a:rPr dirty="0"/>
              <a:t> NODEMCU ESP8266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379EC5-C7E1-F19B-91AE-089B9A78D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92" y="279264"/>
            <a:ext cx="21971005" cy="3008685"/>
          </a:xfrm>
        </p:spPr>
        <p:txBody>
          <a:bodyPr/>
          <a:lstStyle/>
          <a:p>
            <a:r>
              <a:rPr lang="en-US" u="sng" dirty="0"/>
              <a:t>ESP 8266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521CDC-E607-FC1B-D97E-43476BE19D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497" y="3728584"/>
            <a:ext cx="19124312" cy="910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596379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chnology Used:"/>
          <p:cNvSpPr txBox="1">
            <a:spLocks noGrp="1"/>
          </p:cNvSpPr>
          <p:nvPr>
            <p:ph type="title"/>
          </p:nvPr>
        </p:nvSpPr>
        <p:spPr>
          <a:xfrm>
            <a:off x="1206497" y="-1856310"/>
            <a:ext cx="21971006" cy="4648202"/>
          </a:xfrm>
          <a:prstGeom prst="rect">
            <a:avLst/>
          </a:prstGeom>
        </p:spPr>
        <p:txBody>
          <a:bodyPr/>
          <a:lstStyle>
            <a:lvl1pPr>
              <a:defRPr u="sng" spc="-300"/>
            </a:lvl1pPr>
          </a:lstStyle>
          <a:p>
            <a:r>
              <a:t>Technology Used:</a:t>
            </a:r>
          </a:p>
        </p:txBody>
      </p:sp>
      <p:sp>
        <p:nvSpPr>
          <p:cNvPr id="178" name="Arduino Nano…"/>
          <p:cNvSpPr txBox="1">
            <a:spLocks noGrp="1"/>
          </p:cNvSpPr>
          <p:nvPr>
            <p:ph type="body" idx="1"/>
          </p:nvPr>
        </p:nvSpPr>
        <p:spPr>
          <a:xfrm>
            <a:off x="1201342" y="3251200"/>
            <a:ext cx="23189258" cy="10215417"/>
          </a:xfrm>
          <a:prstGeom prst="rect">
            <a:avLst/>
          </a:prstGeom>
        </p:spPr>
        <p:txBody>
          <a:bodyPr lIns="50800" tIns="50800" rIns="50800" bIns="50800">
            <a:normAutofit fontScale="55000" lnSpcReduction="20000"/>
          </a:bodyPr>
          <a:lstStyle/>
          <a:p>
            <a:pPr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 b="0"/>
            </a:pPr>
            <a:r>
              <a:rPr dirty="0"/>
              <a:t>Arduino IDE</a:t>
            </a:r>
            <a:endParaRPr sz="5500" dirty="0"/>
          </a:p>
          <a:p>
            <a:pPr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 b="0"/>
            </a:pPr>
            <a:r>
              <a:rPr dirty="0"/>
              <a:t> Windows OS</a:t>
            </a:r>
            <a:endParaRPr sz="5500" dirty="0"/>
          </a:p>
          <a:p>
            <a:pPr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 b="0"/>
            </a:pPr>
            <a:r>
              <a:rPr dirty="0"/>
              <a:t> PPG Technique</a:t>
            </a:r>
            <a:endParaRPr sz="5500" dirty="0"/>
          </a:p>
          <a:p>
            <a:pPr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 b="0"/>
            </a:pPr>
            <a:r>
              <a:rPr dirty="0"/>
              <a:t> NODEMCU ESP8266</a:t>
            </a:r>
            <a:endParaRPr sz="5500" dirty="0"/>
          </a:p>
          <a:p>
            <a:pPr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 b="0"/>
            </a:pPr>
            <a:r>
              <a:rPr dirty="0"/>
              <a:t> ECG Technique</a:t>
            </a:r>
            <a:endParaRPr sz="5500" dirty="0"/>
          </a:p>
          <a:p>
            <a:pPr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 b="0"/>
            </a:pPr>
            <a:r>
              <a:rPr dirty="0"/>
              <a:t> </a:t>
            </a:r>
            <a:r>
              <a:rPr dirty="0" err="1"/>
              <a:t>ThingSpeak</a:t>
            </a:r>
            <a:r>
              <a:rPr lang="en-US" dirty="0"/>
              <a:t> </a:t>
            </a:r>
          </a:p>
          <a:p>
            <a:pPr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 b="0"/>
            </a:pPr>
            <a:r>
              <a:rPr lang="en-US" dirty="0"/>
              <a:t>  BLYNK</a:t>
            </a:r>
          </a:p>
          <a:p>
            <a:pPr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 b="0"/>
            </a:pPr>
            <a:r>
              <a:rPr lang="en-US" dirty="0"/>
              <a:t>  APPLICATION – FLUTTER </a:t>
            </a:r>
          </a:p>
          <a:p>
            <a:pPr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 b="0"/>
            </a:pPr>
            <a:r>
              <a:rPr lang="en-US" dirty="0"/>
              <a:t>  WEB PORTAL – HTML, CSS, JAVASCRIPT </a:t>
            </a:r>
          </a:p>
          <a:p>
            <a:pPr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 b="0"/>
            </a:pPr>
            <a:r>
              <a:rPr lang="en-US" dirty="0"/>
              <a:t>   DATABASE – FIREBASE </a:t>
            </a:r>
          </a:p>
          <a:p>
            <a:pPr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 b="0"/>
            </a:pPr>
            <a:r>
              <a:rPr lang="en-US" dirty="0"/>
              <a:t>   MATLAB VISUALIZATION </a:t>
            </a:r>
          </a:p>
          <a:p>
            <a:pPr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 b="0"/>
            </a:pPr>
            <a:r>
              <a:rPr lang="en-US" dirty="0"/>
              <a:t>   MATLAB ANALYSIS </a:t>
            </a:r>
            <a:endParaRPr lang="en-US" sz="7200" dirty="0"/>
          </a:p>
          <a:p>
            <a:pPr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 b="0"/>
            </a:pPr>
            <a:endParaRPr lang="en-US" dirty="0"/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chnology Used:"/>
          <p:cNvSpPr txBox="1">
            <a:spLocks noGrp="1"/>
          </p:cNvSpPr>
          <p:nvPr>
            <p:ph type="title"/>
          </p:nvPr>
        </p:nvSpPr>
        <p:spPr>
          <a:xfrm>
            <a:off x="1206497" y="-1856310"/>
            <a:ext cx="21971006" cy="4648202"/>
          </a:xfrm>
          <a:prstGeom prst="rect">
            <a:avLst/>
          </a:prstGeom>
        </p:spPr>
        <p:txBody>
          <a:bodyPr/>
          <a:lstStyle>
            <a:lvl1pPr>
              <a:defRPr u="sng" spc="-300"/>
            </a:lvl1pPr>
          </a:lstStyle>
          <a:p>
            <a:r>
              <a:rPr lang="en-US" dirty="0"/>
              <a:t>SNAPSHOTS</a:t>
            </a:r>
            <a:r>
              <a:rPr dirty="0"/>
              <a:t>:</a:t>
            </a:r>
          </a:p>
        </p:txBody>
      </p:sp>
      <p:sp>
        <p:nvSpPr>
          <p:cNvPr id="178" name="Arduino Nano…"/>
          <p:cNvSpPr txBox="1">
            <a:spLocks noGrp="1"/>
          </p:cNvSpPr>
          <p:nvPr>
            <p:ph type="body" idx="1"/>
          </p:nvPr>
        </p:nvSpPr>
        <p:spPr>
          <a:xfrm>
            <a:off x="1201342" y="3251201"/>
            <a:ext cx="23189258" cy="7860144"/>
          </a:xfrm>
          <a:prstGeom prst="rect">
            <a:avLst/>
          </a:prstGeom>
        </p:spPr>
        <p:txBody>
          <a:bodyPr lIns="50800" tIns="50800" rIns="50800" bIns="50800">
            <a:normAutofit/>
          </a:bodyPr>
          <a:lstStyle/>
          <a:p>
            <a:pPr defTabSz="2438337">
              <a:lnSpc>
                <a:spcPct val="90000"/>
              </a:lnSpc>
              <a:spcBef>
                <a:spcPts val="4500"/>
              </a:spcBef>
              <a:buSzPct val="123000"/>
              <a:defRPr sz="4800" b="0"/>
            </a:pPr>
            <a:r>
              <a:rPr lang="en-US" dirty="0"/>
              <a:t>FIG.THINGSPEAK PORTAL</a:t>
            </a:r>
          </a:p>
          <a:p>
            <a:pPr defTabSz="2438337">
              <a:lnSpc>
                <a:spcPct val="90000"/>
              </a:lnSpc>
              <a:spcBef>
                <a:spcPts val="4500"/>
              </a:spcBef>
              <a:buSzPct val="123000"/>
              <a:defRPr sz="4800" b="0"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50BF48-7E9F-F7B2-BF2C-5750DA1869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342" y="3251199"/>
            <a:ext cx="20453313" cy="786014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A9729E4-75EF-B347-64FE-716782EFC0D4}"/>
              </a:ext>
            </a:extLst>
          </p:cNvPr>
          <p:cNvSpPr txBox="1"/>
          <p:nvPr/>
        </p:nvSpPr>
        <p:spPr>
          <a:xfrm>
            <a:off x="5084618" y="12187507"/>
            <a:ext cx="12192000" cy="7571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defTabSz="2438337">
              <a:lnSpc>
                <a:spcPct val="90000"/>
              </a:lnSpc>
              <a:spcBef>
                <a:spcPts val="4500"/>
              </a:spcBef>
              <a:buSzPct val="123000"/>
              <a:defRPr sz="4800" b="0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FIG.THINGSPEAK PORTAL</a:t>
            </a:r>
          </a:p>
        </p:txBody>
      </p:sp>
    </p:spTree>
    <p:extLst>
      <p:ext uri="{BB962C8B-B14F-4D97-AF65-F5344CB8AC3E}">
        <p14:creationId xmlns:p14="http://schemas.microsoft.com/office/powerpoint/2010/main" val="3339655345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06132B4-4D9E-DE21-42D7-C9C194FEB7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7295" y="6076557"/>
            <a:ext cx="13716705" cy="76394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04ED75-B40D-B7C2-E840-03864FA54E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716705" cy="76457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CEADC3C-F3B5-C66B-A6E0-5E14384CCFD0}"/>
              </a:ext>
            </a:extLst>
          </p:cNvPr>
          <p:cNvSpPr txBox="1"/>
          <p:nvPr/>
        </p:nvSpPr>
        <p:spPr>
          <a:xfrm>
            <a:off x="-443345" y="10511108"/>
            <a:ext cx="12192000" cy="7571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defTabSz="2438337">
              <a:lnSpc>
                <a:spcPct val="90000"/>
              </a:lnSpc>
              <a:spcBef>
                <a:spcPts val="4500"/>
              </a:spcBef>
              <a:buSzPct val="123000"/>
              <a:defRPr sz="4800" b="0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FIG.WEB PORTAL</a:t>
            </a:r>
          </a:p>
        </p:txBody>
      </p:sp>
    </p:spTree>
    <p:extLst>
      <p:ext uri="{BB962C8B-B14F-4D97-AF65-F5344CB8AC3E}">
        <p14:creationId xmlns:p14="http://schemas.microsoft.com/office/powerpoint/2010/main" val="731810553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74552A5-F00A-DB84-617A-DCDAF5313D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7076" y="2155376"/>
            <a:ext cx="16664197" cy="85541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97AF02F-B03B-8B7B-3E22-D72766033CDC}"/>
              </a:ext>
            </a:extLst>
          </p:cNvPr>
          <p:cNvSpPr txBox="1"/>
          <p:nvPr/>
        </p:nvSpPr>
        <p:spPr>
          <a:xfrm>
            <a:off x="5555672" y="11827290"/>
            <a:ext cx="12192000" cy="7571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defTabSz="2438337">
              <a:lnSpc>
                <a:spcPct val="90000"/>
              </a:lnSpc>
              <a:spcBef>
                <a:spcPts val="4500"/>
              </a:spcBef>
              <a:buSzPct val="123000"/>
              <a:defRPr sz="4800" b="0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FIG.MATLAB ANALYSIS</a:t>
            </a:r>
          </a:p>
        </p:txBody>
      </p:sp>
    </p:spTree>
    <p:extLst>
      <p:ext uri="{BB962C8B-B14F-4D97-AF65-F5344CB8AC3E}">
        <p14:creationId xmlns:p14="http://schemas.microsoft.com/office/powerpoint/2010/main" val="2728241087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7693DD-DB68-6B1E-1A4F-7D7F32A8E8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5841" y="1003589"/>
            <a:ext cx="5143500" cy="114871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F22BDA0-6806-8481-0882-B78EAEF63F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5014" y="1114425"/>
            <a:ext cx="5143500" cy="114871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902FA3-CACD-7A8D-6B6A-3AA71F3E513B}"/>
              </a:ext>
            </a:extLst>
          </p:cNvPr>
          <p:cNvSpPr txBox="1"/>
          <p:nvPr/>
        </p:nvSpPr>
        <p:spPr>
          <a:xfrm>
            <a:off x="5436178" y="12490739"/>
            <a:ext cx="12192000" cy="7571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defTabSz="2438337">
              <a:lnSpc>
                <a:spcPct val="90000"/>
              </a:lnSpc>
              <a:spcBef>
                <a:spcPts val="4500"/>
              </a:spcBef>
              <a:buSzPct val="123000"/>
              <a:defRPr sz="4800" b="0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FIG.MOBILE APPLICATION</a:t>
            </a:r>
          </a:p>
        </p:txBody>
      </p:sp>
    </p:spTree>
    <p:extLst>
      <p:ext uri="{BB962C8B-B14F-4D97-AF65-F5344CB8AC3E}">
        <p14:creationId xmlns:p14="http://schemas.microsoft.com/office/powerpoint/2010/main" val="4276497719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98B77B8-998C-472A-4B62-8972BDBC89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5814" y="1610789"/>
            <a:ext cx="5143500" cy="114871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D349EDC-54AB-BB25-3320-F09C4235403C}"/>
              </a:ext>
            </a:extLst>
          </p:cNvPr>
          <p:cNvSpPr txBox="1"/>
          <p:nvPr/>
        </p:nvSpPr>
        <p:spPr>
          <a:xfrm>
            <a:off x="10986655" y="11674889"/>
            <a:ext cx="12192000" cy="7571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defTabSz="2438337">
              <a:lnSpc>
                <a:spcPct val="90000"/>
              </a:lnSpc>
              <a:spcBef>
                <a:spcPts val="4500"/>
              </a:spcBef>
              <a:buSzPct val="123000"/>
              <a:defRPr sz="4800" b="0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FIG.BLYNK MOBILE APPLICATION</a:t>
            </a:r>
          </a:p>
        </p:txBody>
      </p:sp>
    </p:spTree>
    <p:extLst>
      <p:ext uri="{BB962C8B-B14F-4D97-AF65-F5344CB8AC3E}">
        <p14:creationId xmlns:p14="http://schemas.microsoft.com/office/powerpoint/2010/main" val="3496881232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Uses Of Health Monitoring"/>
          <p:cNvSpPr txBox="1">
            <a:spLocks noGrp="1"/>
          </p:cNvSpPr>
          <p:nvPr>
            <p:ph type="title"/>
          </p:nvPr>
        </p:nvSpPr>
        <p:spPr>
          <a:xfrm>
            <a:off x="1206497" y="-2140672"/>
            <a:ext cx="21971006" cy="4648203"/>
          </a:xfrm>
          <a:prstGeom prst="rect">
            <a:avLst/>
          </a:prstGeom>
        </p:spPr>
        <p:txBody>
          <a:bodyPr/>
          <a:lstStyle>
            <a:lvl1pPr>
              <a:defRPr u="sng" spc="-300"/>
            </a:lvl1pPr>
          </a:lstStyle>
          <a:p>
            <a:r>
              <a:t>Uses Of Health Monitoring</a:t>
            </a:r>
          </a:p>
        </p:txBody>
      </p:sp>
      <p:sp>
        <p:nvSpPr>
          <p:cNvPr id="181" name="Continuous monitoring of heart rate…"/>
          <p:cNvSpPr txBox="1">
            <a:spLocks noGrp="1"/>
          </p:cNvSpPr>
          <p:nvPr>
            <p:ph type="body" idx="1"/>
          </p:nvPr>
        </p:nvSpPr>
        <p:spPr>
          <a:xfrm>
            <a:off x="1272431" y="4227045"/>
            <a:ext cx="22351356" cy="10198880"/>
          </a:xfrm>
          <a:prstGeom prst="rect">
            <a:avLst/>
          </a:prstGeom>
        </p:spPr>
        <p:txBody>
          <a:bodyPr lIns="50800" tIns="50800" rIns="50800" bIns="50800"/>
          <a:lstStyle/>
          <a:p>
            <a:pPr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 b="0"/>
            </a:pPr>
            <a:r>
              <a:rPr dirty="0"/>
              <a:t> Continuous monitoring of heart rate</a:t>
            </a:r>
          </a:p>
          <a:p>
            <a:pPr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 b="0"/>
            </a:pPr>
            <a:r>
              <a:rPr dirty="0"/>
              <a:t> Detection of Arrhythmias (Irregular heartbeats)</a:t>
            </a:r>
          </a:p>
          <a:p>
            <a:pPr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 b="0"/>
            </a:pPr>
            <a:r>
              <a:rPr dirty="0"/>
              <a:t> Monitoring of blood oxygen levels</a:t>
            </a:r>
          </a:p>
          <a:p>
            <a:pPr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 b="0"/>
            </a:pPr>
            <a:r>
              <a:rPr dirty="0"/>
              <a:t> Tracking of physical activities</a:t>
            </a:r>
          </a:p>
          <a:p>
            <a:pPr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 b="0"/>
            </a:pPr>
            <a:r>
              <a:rPr dirty="0"/>
              <a:t> Real- time monitoring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arget Audience"/>
          <p:cNvSpPr txBox="1">
            <a:spLocks noGrp="1"/>
          </p:cNvSpPr>
          <p:nvPr>
            <p:ph type="title"/>
          </p:nvPr>
        </p:nvSpPr>
        <p:spPr>
          <a:xfrm>
            <a:off x="765561" y="-1548252"/>
            <a:ext cx="22852878" cy="3972287"/>
          </a:xfrm>
          <a:prstGeom prst="rect">
            <a:avLst/>
          </a:prstGeom>
        </p:spPr>
        <p:txBody>
          <a:bodyPr/>
          <a:lstStyle>
            <a:lvl1pPr>
              <a:defRPr u="sng" spc="-300"/>
            </a:lvl1pPr>
          </a:lstStyle>
          <a:p>
            <a:r>
              <a:t>Target Audience</a:t>
            </a:r>
          </a:p>
        </p:txBody>
      </p:sp>
      <p:sp>
        <p:nvSpPr>
          <p:cNvPr id="187" name="Individuals with cardiovascular diseases…"/>
          <p:cNvSpPr txBox="1">
            <a:spLocks noGrp="1"/>
          </p:cNvSpPr>
          <p:nvPr>
            <p:ph type="body" idx="1"/>
          </p:nvPr>
        </p:nvSpPr>
        <p:spPr>
          <a:xfrm>
            <a:off x="1272432" y="4167785"/>
            <a:ext cx="22692643" cy="8098751"/>
          </a:xfrm>
          <a:prstGeom prst="rect">
            <a:avLst/>
          </a:prstGeom>
        </p:spPr>
        <p:txBody>
          <a:bodyPr lIns="50800" tIns="50800" rIns="50800" bIns="50800"/>
          <a:lstStyle/>
          <a:p>
            <a:pPr defTabSz="676909">
              <a:buSzPct val="123000"/>
              <a:buChar char="•"/>
              <a:defRPr sz="4500"/>
            </a:pPr>
            <a:r>
              <a:t> Individuals with cardiovascular diseases</a:t>
            </a:r>
          </a:p>
          <a:p>
            <a:pPr defTabSz="676909">
              <a:buSzPct val="123000"/>
              <a:buChar char="•"/>
              <a:defRPr sz="4500"/>
            </a:pPr>
            <a:endParaRPr/>
          </a:p>
          <a:p>
            <a:pPr defTabSz="676909">
              <a:buSzPct val="123000"/>
              <a:buChar char="•"/>
              <a:defRPr sz="4500"/>
            </a:pPr>
            <a:r>
              <a:t> Athletes and fitness enthusiasts</a:t>
            </a:r>
          </a:p>
          <a:p>
            <a:pPr defTabSz="676909">
              <a:buSzPct val="123000"/>
              <a:buChar char="•"/>
              <a:defRPr sz="4500"/>
            </a:pPr>
            <a:endParaRPr/>
          </a:p>
          <a:p>
            <a:pPr defTabSz="676909">
              <a:buSzPct val="123000"/>
              <a:buChar char="•"/>
              <a:defRPr sz="4500"/>
            </a:pPr>
            <a:r>
              <a:t> Individuals with respiratory conditions</a:t>
            </a:r>
          </a:p>
          <a:p>
            <a:pPr defTabSz="676909">
              <a:buSzPct val="123000"/>
              <a:buChar char="•"/>
              <a:defRPr sz="4500"/>
            </a:pPr>
            <a:endParaRPr/>
          </a:p>
          <a:p>
            <a:pPr defTabSz="676909">
              <a:buSzPct val="123000"/>
              <a:buChar char="•"/>
              <a:defRPr sz="4500"/>
            </a:pPr>
            <a:r>
              <a:t> Senior citizens</a:t>
            </a:r>
          </a:p>
          <a:p>
            <a:pPr defTabSz="676909">
              <a:defRPr sz="4500"/>
            </a:pPr>
            <a:endParaRPr/>
          </a:p>
          <a:p>
            <a:pPr defTabSz="676909">
              <a:buSzPct val="123000"/>
              <a:buChar char="•"/>
              <a:defRPr sz="4500"/>
            </a:pPr>
            <a:r>
              <a:t> People with chronic conditions</a:t>
            </a:r>
          </a:p>
        </p:txBody>
      </p:sp>
    </p:spTree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Future Updates"/>
          <p:cNvSpPr txBox="1">
            <a:spLocks noGrp="1"/>
          </p:cNvSpPr>
          <p:nvPr>
            <p:ph type="title"/>
          </p:nvPr>
        </p:nvSpPr>
        <p:spPr>
          <a:xfrm>
            <a:off x="1206497" y="-1927400"/>
            <a:ext cx="21971006" cy="4648202"/>
          </a:xfrm>
          <a:prstGeom prst="rect">
            <a:avLst/>
          </a:prstGeom>
        </p:spPr>
        <p:txBody>
          <a:bodyPr/>
          <a:lstStyle>
            <a:lvl1pPr>
              <a:defRPr u="sng"/>
            </a:lvl1pPr>
          </a:lstStyle>
          <a:p>
            <a:r>
              <a:rPr dirty="0"/>
              <a:t>Future Updates</a:t>
            </a:r>
          </a:p>
        </p:txBody>
      </p:sp>
      <p:sp>
        <p:nvSpPr>
          <p:cNvPr id="190" name="Wearable technology with more advanced sensors…"/>
          <p:cNvSpPr txBox="1"/>
          <p:nvPr/>
        </p:nvSpPr>
        <p:spPr>
          <a:xfrm>
            <a:off x="1267778" y="5157826"/>
            <a:ext cx="20167926" cy="6196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825500">
              <a:buSzPct val="123000"/>
              <a:buChar char="•"/>
              <a:defRPr sz="4500" b="1">
                <a:solidFill>
                  <a:srgbClr val="000000"/>
                </a:solidFill>
              </a:defRPr>
            </a:pPr>
            <a:r>
              <a:rPr dirty="0"/>
              <a:t> Wearable technology with more advanced sensors</a:t>
            </a:r>
          </a:p>
          <a:p>
            <a:pPr algn="l" defTabSz="825500">
              <a:defRPr sz="4500" b="1">
                <a:solidFill>
                  <a:srgbClr val="000000"/>
                </a:solidFill>
              </a:defRPr>
            </a:pPr>
            <a:endParaRPr dirty="0"/>
          </a:p>
          <a:p>
            <a:pPr algn="l" defTabSz="825500">
              <a:buSzPct val="123000"/>
              <a:buChar char="•"/>
              <a:defRPr sz="4500" b="1">
                <a:solidFill>
                  <a:srgbClr val="000000"/>
                </a:solidFill>
              </a:defRPr>
            </a:pPr>
            <a:r>
              <a:rPr dirty="0"/>
              <a:t> Artificial Intelligence and Machine Learning algorithms</a:t>
            </a:r>
          </a:p>
          <a:p>
            <a:pPr algn="l" defTabSz="825500">
              <a:defRPr sz="4500" b="1">
                <a:solidFill>
                  <a:srgbClr val="000000"/>
                </a:solidFill>
              </a:defRPr>
            </a:pPr>
            <a:endParaRPr dirty="0"/>
          </a:p>
          <a:p>
            <a:pPr algn="l" defTabSz="825500">
              <a:buSzPct val="123000"/>
              <a:buChar char="•"/>
              <a:defRPr sz="4500" b="1">
                <a:solidFill>
                  <a:srgbClr val="000000"/>
                </a:solidFill>
              </a:defRPr>
            </a:pPr>
            <a:r>
              <a:rPr dirty="0"/>
              <a:t> Improved data privacy &amp; security</a:t>
            </a:r>
          </a:p>
          <a:p>
            <a:pPr algn="l" defTabSz="825500">
              <a:buSzPct val="123000"/>
              <a:defRPr sz="4500" b="1">
                <a:solidFill>
                  <a:srgbClr val="000000"/>
                </a:solidFill>
              </a:defRPr>
            </a:pPr>
            <a:endParaRPr dirty="0"/>
          </a:p>
          <a:p>
            <a:pPr algn="l" defTabSz="825500">
              <a:buSzPct val="123000"/>
              <a:buChar char="•"/>
              <a:defRPr sz="4500" b="1">
                <a:solidFill>
                  <a:srgbClr val="000000"/>
                </a:solidFill>
              </a:defRPr>
            </a:pPr>
            <a:r>
              <a:rPr dirty="0"/>
              <a:t> Predictive analysis</a:t>
            </a:r>
          </a:p>
          <a:p>
            <a:pPr algn="l" defTabSz="825500">
              <a:buSzPct val="123000"/>
              <a:buChar char="•"/>
              <a:defRPr sz="4500" b="1">
                <a:solidFill>
                  <a:srgbClr val="000000"/>
                </a:solidFill>
              </a:defRPr>
            </a:pPr>
            <a:endParaRPr dirty="0"/>
          </a:p>
          <a:p>
            <a:pPr algn="l" defTabSz="825500">
              <a:defRPr sz="3600" b="1">
                <a:solidFill>
                  <a:srgbClr val="000000"/>
                </a:solidFill>
              </a:defRPr>
            </a:pPr>
            <a:endParaRPr dirty="0"/>
          </a:p>
        </p:txBody>
      </p:sp>
    </p:spTree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hank You"/>
          <p:cNvSpPr txBox="1">
            <a:spLocks noGrp="1"/>
          </p:cNvSpPr>
          <p:nvPr>
            <p:ph type="title"/>
          </p:nvPr>
        </p:nvSpPr>
        <p:spPr>
          <a:xfrm>
            <a:off x="1206495" y="2574991"/>
            <a:ext cx="21971006" cy="4648202"/>
          </a:xfrm>
          <a:prstGeom prst="rect">
            <a:avLst/>
          </a:prstGeom>
        </p:spPr>
        <p:txBody>
          <a:bodyPr/>
          <a:lstStyle>
            <a:lvl1pPr algn="ctr">
              <a:defRPr sz="25000" i="1" spc="-300"/>
            </a:lvl1pPr>
          </a:lstStyle>
          <a:p>
            <a:r>
              <a:t>Thank You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White">
  <a:themeElements>
    <a:clrScheme name="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5E00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5E00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655</Words>
  <Application>Microsoft Office PowerPoint</Application>
  <PresentationFormat>Custom</PresentationFormat>
  <Paragraphs>156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Helvetica Neue</vt:lpstr>
      <vt:lpstr>Helvetica Neue Medium</vt:lpstr>
      <vt:lpstr>Lucida Grande</vt:lpstr>
      <vt:lpstr>White</vt:lpstr>
      <vt:lpstr>Health Monitoring System:            Using ECG and PPG Techniques…</vt:lpstr>
      <vt:lpstr>Outline</vt:lpstr>
      <vt:lpstr>Objective</vt:lpstr>
      <vt:lpstr>IoT In Health Monitoring</vt:lpstr>
      <vt:lpstr>Introduction</vt:lpstr>
      <vt:lpstr>ECG Technique</vt:lpstr>
      <vt:lpstr>ECG BLOCK DIAGRAM</vt:lpstr>
      <vt:lpstr>ECG MODEL</vt:lpstr>
      <vt:lpstr>PPG Technique</vt:lpstr>
      <vt:lpstr>PPG BLOCK DIAGRAM</vt:lpstr>
      <vt:lpstr>PPG MODEL</vt:lpstr>
      <vt:lpstr>Components Used:</vt:lpstr>
      <vt:lpstr>ESP 8266</vt:lpstr>
      <vt:lpstr>Technology Used:</vt:lpstr>
      <vt:lpstr>SNAPSHOTS:</vt:lpstr>
      <vt:lpstr>PowerPoint Presentation</vt:lpstr>
      <vt:lpstr>PowerPoint Presentation</vt:lpstr>
      <vt:lpstr>PowerPoint Presentation</vt:lpstr>
      <vt:lpstr>PowerPoint Presentation</vt:lpstr>
      <vt:lpstr>Uses Of Health Monitoring</vt:lpstr>
      <vt:lpstr>Target Audience</vt:lpstr>
      <vt:lpstr>Future Updates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 Monitoring System:            Using ECG and PPG Techniques…</dc:title>
  <dc:creator>SHAGUN TYAGI</dc:creator>
  <cp:lastModifiedBy>SHAGUN TYAGI</cp:lastModifiedBy>
  <cp:revision>3</cp:revision>
  <dcterms:modified xsi:type="dcterms:W3CDTF">2023-12-12T04:35:36Z</dcterms:modified>
</cp:coreProperties>
</file>